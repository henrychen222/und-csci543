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Lst>
  <p:notesMasterIdLst>
    <p:notesMasterId r:id="rId28"/>
  </p:notesMasterIdLst>
  <p:sldIdLst>
    <p:sldId id="256" r:id="rId2"/>
    <p:sldId id="257" r:id="rId3"/>
    <p:sldId id="258" r:id="rId4"/>
    <p:sldId id="259" r:id="rId5"/>
    <p:sldId id="260" r:id="rId6"/>
    <p:sldId id="261" r:id="rId7"/>
    <p:sldId id="268" r:id="rId8"/>
    <p:sldId id="262" r:id="rId9"/>
    <p:sldId id="264" r:id="rId10"/>
    <p:sldId id="265" r:id="rId11"/>
    <p:sldId id="269" r:id="rId12"/>
    <p:sldId id="266" r:id="rId13"/>
    <p:sldId id="267" r:id="rId14"/>
    <p:sldId id="270" r:id="rId15"/>
    <p:sldId id="271" r:id="rId16"/>
    <p:sldId id="274" r:id="rId17"/>
    <p:sldId id="275" r:id="rId18"/>
    <p:sldId id="276" r:id="rId19"/>
    <p:sldId id="277" r:id="rId20"/>
    <p:sldId id="263" r:id="rId21"/>
    <p:sldId id="272" r:id="rId22"/>
    <p:sldId id="278" r:id="rId23"/>
    <p:sldId id="279" r:id="rId24"/>
    <p:sldId id="273" r:id="rId25"/>
    <p:sldId id="280" r:id="rId26"/>
    <p:sldId id="281"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45" autoAdjust="0"/>
  </p:normalViewPr>
  <p:slideViewPr>
    <p:cSldViewPr snapToGrid="0">
      <p:cViewPr varScale="1">
        <p:scale>
          <a:sx n="109" d="100"/>
          <a:sy n="109" d="100"/>
        </p:scale>
        <p:origin x="612"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inedu Nwachukwu" userId="c5de2e0d69d95100" providerId="LiveId" clId="{A1F45B2F-1A78-4B68-B078-263A0AB6D3D7}"/>
    <pc:docChg chg="undo custSel addSld modSld sldOrd">
      <pc:chgData name="Chinedu Nwachukwu" userId="c5de2e0d69d95100" providerId="LiveId" clId="{A1F45B2F-1A78-4B68-B078-263A0AB6D3D7}" dt="2017-12-12T15:48:50.300" v="776" actId="14100"/>
      <pc:docMkLst>
        <pc:docMk/>
      </pc:docMkLst>
      <pc:sldChg chg="modSp ord">
        <pc:chgData name="Chinedu Nwachukwu" userId="c5de2e0d69d95100" providerId="LiveId" clId="{A1F45B2F-1A78-4B68-B078-263A0AB6D3D7}" dt="2017-12-12T15:36:14.847" v="471" actId="20577"/>
        <pc:sldMkLst>
          <pc:docMk/>
          <pc:sldMk cId="3411550035" sldId="263"/>
        </pc:sldMkLst>
        <pc:spChg chg="mod">
          <ac:chgData name="Chinedu Nwachukwu" userId="c5de2e0d69d95100" providerId="LiveId" clId="{A1F45B2F-1A78-4B68-B078-263A0AB6D3D7}" dt="2017-12-12T15:36:14.847" v="471" actId="20577"/>
          <ac:spMkLst>
            <pc:docMk/>
            <pc:sldMk cId="3411550035" sldId="263"/>
            <ac:spMk id="2" creationId="{C4A4532F-A795-47B0-8041-841E6CED8737}"/>
          </ac:spMkLst>
        </pc:spChg>
      </pc:sldChg>
      <pc:sldChg chg="modSp">
        <pc:chgData name="Chinedu Nwachukwu" userId="c5de2e0d69d95100" providerId="LiveId" clId="{A1F45B2F-1A78-4B68-B078-263A0AB6D3D7}" dt="2017-12-12T15:39:03.855" v="478" actId="20577"/>
        <pc:sldMkLst>
          <pc:docMk/>
          <pc:sldMk cId="1027526189" sldId="272"/>
        </pc:sldMkLst>
        <pc:spChg chg="mod">
          <ac:chgData name="Chinedu Nwachukwu" userId="c5de2e0d69d95100" providerId="LiveId" clId="{A1F45B2F-1A78-4B68-B078-263A0AB6D3D7}" dt="2017-12-12T15:39:03.855" v="478" actId="20577"/>
          <ac:spMkLst>
            <pc:docMk/>
            <pc:sldMk cId="1027526189" sldId="272"/>
            <ac:spMk id="3" creationId="{9DDF9937-8577-477D-B263-48A347A4D6B2}"/>
          </ac:spMkLst>
        </pc:spChg>
      </pc:sldChg>
      <pc:sldChg chg="modSp">
        <pc:chgData name="Chinedu Nwachukwu" userId="c5de2e0d69d95100" providerId="LiveId" clId="{A1F45B2F-1A78-4B68-B078-263A0AB6D3D7}" dt="2017-12-12T15:45:33.732" v="699" actId="1076"/>
        <pc:sldMkLst>
          <pc:docMk/>
          <pc:sldMk cId="1346785268" sldId="273"/>
        </pc:sldMkLst>
        <pc:spChg chg="mod">
          <ac:chgData name="Chinedu Nwachukwu" userId="c5de2e0d69d95100" providerId="LiveId" clId="{A1F45B2F-1A78-4B68-B078-263A0AB6D3D7}" dt="2017-12-12T15:44:02.963" v="516" actId="1076"/>
          <ac:spMkLst>
            <pc:docMk/>
            <pc:sldMk cId="1346785268" sldId="273"/>
            <ac:spMk id="2" creationId="{A7A6BC17-70DD-4229-952C-6AA7B4ADA1A9}"/>
          </ac:spMkLst>
        </pc:spChg>
        <pc:spChg chg="mod">
          <ac:chgData name="Chinedu Nwachukwu" userId="c5de2e0d69d95100" providerId="LiveId" clId="{A1F45B2F-1A78-4B68-B078-263A0AB6D3D7}" dt="2017-12-12T15:45:33.732" v="699" actId="1076"/>
          <ac:spMkLst>
            <pc:docMk/>
            <pc:sldMk cId="1346785268" sldId="273"/>
            <ac:spMk id="3" creationId="{D0138832-8D7F-41F3-A110-E59653CA85A7}"/>
          </ac:spMkLst>
        </pc:spChg>
      </pc:sldChg>
      <pc:sldChg chg="modSp add">
        <pc:chgData name="Chinedu Nwachukwu" userId="c5de2e0d69d95100" providerId="LiveId" clId="{A1F45B2F-1A78-4B68-B078-263A0AB6D3D7}" dt="2017-12-12T15:28:40.815" v="333" actId="20577"/>
        <pc:sldMkLst>
          <pc:docMk/>
          <pc:sldMk cId="2359516645" sldId="274"/>
        </pc:sldMkLst>
        <pc:spChg chg="mod">
          <ac:chgData name="Chinedu Nwachukwu" userId="c5de2e0d69d95100" providerId="LiveId" clId="{A1F45B2F-1A78-4B68-B078-263A0AB6D3D7}" dt="2017-12-12T15:23:48.315" v="1"/>
          <ac:spMkLst>
            <pc:docMk/>
            <pc:sldMk cId="2359516645" sldId="274"/>
            <ac:spMk id="2" creationId="{D6D3BFA0-05E2-4B8E-9295-397946CE951B}"/>
          </ac:spMkLst>
        </pc:spChg>
        <pc:spChg chg="mod">
          <ac:chgData name="Chinedu Nwachukwu" userId="c5de2e0d69d95100" providerId="LiveId" clId="{A1F45B2F-1A78-4B68-B078-263A0AB6D3D7}" dt="2017-12-12T15:28:40.815" v="333" actId="20577"/>
          <ac:spMkLst>
            <pc:docMk/>
            <pc:sldMk cId="2359516645" sldId="274"/>
            <ac:spMk id="3" creationId="{2C1D5AD9-BAEE-436C-A752-04F116F308F6}"/>
          </ac:spMkLst>
        </pc:spChg>
      </pc:sldChg>
      <pc:sldChg chg="addSp delSp modSp add">
        <pc:chgData name="Chinedu Nwachukwu" userId="c5de2e0d69d95100" providerId="LiveId" clId="{A1F45B2F-1A78-4B68-B078-263A0AB6D3D7}" dt="2017-12-12T15:29:24.732" v="341" actId="1076"/>
        <pc:sldMkLst>
          <pc:docMk/>
          <pc:sldMk cId="2295247826" sldId="275"/>
        </pc:sldMkLst>
        <pc:spChg chg="del">
          <ac:chgData name="Chinedu Nwachukwu" userId="c5de2e0d69d95100" providerId="LiveId" clId="{A1F45B2F-1A78-4B68-B078-263A0AB6D3D7}" dt="2017-12-12T15:29:10.078" v="336"/>
          <ac:spMkLst>
            <pc:docMk/>
            <pc:sldMk cId="2295247826" sldId="275"/>
            <ac:spMk id="3" creationId="{A1021356-1698-4A67-9D77-FD39DB104148}"/>
          </ac:spMkLst>
        </pc:spChg>
        <pc:picChg chg="add mod">
          <ac:chgData name="Chinedu Nwachukwu" userId="c5de2e0d69d95100" providerId="LiveId" clId="{A1F45B2F-1A78-4B68-B078-263A0AB6D3D7}" dt="2017-12-12T15:29:24.732" v="341" actId="1076"/>
          <ac:picMkLst>
            <pc:docMk/>
            <pc:sldMk cId="2295247826" sldId="275"/>
            <ac:picMk id="4" creationId="{2995E6CC-9A4D-434D-BC54-2E74E3F07FD6}"/>
          </ac:picMkLst>
        </pc:picChg>
      </pc:sldChg>
      <pc:sldChg chg="modSp add">
        <pc:chgData name="Chinedu Nwachukwu" userId="c5de2e0d69d95100" providerId="LiveId" clId="{A1F45B2F-1A78-4B68-B078-263A0AB6D3D7}" dt="2017-12-12T15:33:35.593" v="380" actId="20577"/>
        <pc:sldMkLst>
          <pc:docMk/>
          <pc:sldMk cId="1268144344" sldId="276"/>
        </pc:sldMkLst>
        <pc:spChg chg="mod">
          <ac:chgData name="Chinedu Nwachukwu" userId="c5de2e0d69d95100" providerId="LiveId" clId="{A1F45B2F-1A78-4B68-B078-263A0AB6D3D7}" dt="2017-12-12T15:33:35.593" v="380" actId="20577"/>
          <ac:spMkLst>
            <pc:docMk/>
            <pc:sldMk cId="1268144344" sldId="276"/>
            <ac:spMk id="3" creationId="{F2C23244-B816-413A-B56F-1B7BAEB23AA4}"/>
          </ac:spMkLst>
        </pc:spChg>
      </pc:sldChg>
      <pc:sldChg chg="addSp modSp add">
        <pc:chgData name="Chinedu Nwachukwu" userId="c5de2e0d69d95100" providerId="LiveId" clId="{A1F45B2F-1A78-4B68-B078-263A0AB6D3D7}" dt="2017-12-12T15:34:58.409" v="398" actId="20577"/>
        <pc:sldMkLst>
          <pc:docMk/>
          <pc:sldMk cId="3110617490" sldId="277"/>
        </pc:sldMkLst>
        <pc:spChg chg="mod">
          <ac:chgData name="Chinedu Nwachukwu" userId="c5de2e0d69d95100" providerId="LiveId" clId="{A1F45B2F-1A78-4B68-B078-263A0AB6D3D7}" dt="2017-12-12T15:34:58.409" v="398" actId="20577"/>
          <ac:spMkLst>
            <pc:docMk/>
            <pc:sldMk cId="3110617490" sldId="277"/>
            <ac:spMk id="3" creationId="{CB571952-714C-4CCD-BF69-0739E28FB658}"/>
          </ac:spMkLst>
        </pc:spChg>
        <pc:picChg chg="add mod">
          <ac:chgData name="Chinedu Nwachukwu" userId="c5de2e0d69d95100" providerId="LiveId" clId="{A1F45B2F-1A78-4B68-B078-263A0AB6D3D7}" dt="2017-12-12T15:33:57.039" v="385" actId="14100"/>
          <ac:picMkLst>
            <pc:docMk/>
            <pc:sldMk cId="3110617490" sldId="277"/>
            <ac:picMk id="4" creationId="{45119257-F07F-428F-A329-343591CA3761}"/>
          </ac:picMkLst>
        </pc:picChg>
      </pc:sldChg>
      <pc:sldChg chg="addSp delSp modSp add">
        <pc:chgData name="Chinedu Nwachukwu" userId="c5de2e0d69d95100" providerId="LiveId" clId="{A1F45B2F-1A78-4B68-B078-263A0AB6D3D7}" dt="2017-12-12T15:40:50.600" v="487" actId="14100"/>
        <pc:sldMkLst>
          <pc:docMk/>
          <pc:sldMk cId="250816556" sldId="278"/>
        </pc:sldMkLst>
        <pc:spChg chg="del">
          <ac:chgData name="Chinedu Nwachukwu" userId="c5de2e0d69d95100" providerId="LiveId" clId="{A1F45B2F-1A78-4B68-B078-263A0AB6D3D7}" dt="2017-12-12T15:39:50.749" v="481"/>
          <ac:spMkLst>
            <pc:docMk/>
            <pc:sldMk cId="250816556" sldId="278"/>
            <ac:spMk id="3" creationId="{C175103A-8EF6-4176-BC3B-E89E5BA36F83}"/>
          </ac:spMkLst>
        </pc:spChg>
        <pc:picChg chg="add mod">
          <ac:chgData name="Chinedu Nwachukwu" userId="c5de2e0d69d95100" providerId="LiveId" clId="{A1F45B2F-1A78-4B68-B078-263A0AB6D3D7}" dt="2017-12-12T15:40:50.600" v="487" actId="14100"/>
          <ac:picMkLst>
            <pc:docMk/>
            <pc:sldMk cId="250816556" sldId="278"/>
            <ac:picMk id="4" creationId="{7158ACCB-36CF-4985-8D2B-8E9D6FEB912F}"/>
          </ac:picMkLst>
        </pc:picChg>
      </pc:sldChg>
      <pc:sldChg chg="addSp modSp add">
        <pc:chgData name="Chinedu Nwachukwu" userId="c5de2e0d69d95100" providerId="LiveId" clId="{A1F45B2F-1A78-4B68-B078-263A0AB6D3D7}" dt="2017-12-12T15:40:39.520" v="485" actId="14100"/>
        <pc:sldMkLst>
          <pc:docMk/>
          <pc:sldMk cId="990744443" sldId="279"/>
        </pc:sldMkLst>
        <pc:picChg chg="add mod">
          <ac:chgData name="Chinedu Nwachukwu" userId="c5de2e0d69d95100" providerId="LiveId" clId="{A1F45B2F-1A78-4B68-B078-263A0AB6D3D7}" dt="2017-12-12T15:40:39.520" v="485" actId="14100"/>
          <ac:picMkLst>
            <pc:docMk/>
            <pc:sldMk cId="990744443" sldId="279"/>
            <ac:picMk id="4" creationId="{52D75587-16F7-4F4A-A544-E9E0F333844A}"/>
          </ac:picMkLst>
        </pc:picChg>
      </pc:sldChg>
      <pc:sldChg chg="modSp add">
        <pc:chgData name="Chinedu Nwachukwu" userId="c5de2e0d69d95100" providerId="LiveId" clId="{A1F45B2F-1A78-4B68-B078-263A0AB6D3D7}" dt="2017-12-12T15:47:56.505" v="745" actId="20577"/>
        <pc:sldMkLst>
          <pc:docMk/>
          <pc:sldMk cId="838722045" sldId="280"/>
        </pc:sldMkLst>
        <pc:spChg chg="mod">
          <ac:chgData name="Chinedu Nwachukwu" userId="c5de2e0d69d95100" providerId="LiveId" clId="{A1F45B2F-1A78-4B68-B078-263A0AB6D3D7}" dt="2017-12-12T15:45:44.298" v="709" actId="20577"/>
          <ac:spMkLst>
            <pc:docMk/>
            <pc:sldMk cId="838722045" sldId="280"/>
            <ac:spMk id="2" creationId="{738FDC83-962E-4305-AEB0-335AD6F41384}"/>
          </ac:spMkLst>
        </pc:spChg>
        <pc:spChg chg="mod">
          <ac:chgData name="Chinedu Nwachukwu" userId="c5de2e0d69d95100" providerId="LiveId" clId="{A1F45B2F-1A78-4B68-B078-263A0AB6D3D7}" dt="2017-12-12T15:47:56.505" v="745" actId="20577"/>
          <ac:spMkLst>
            <pc:docMk/>
            <pc:sldMk cId="838722045" sldId="280"/>
            <ac:spMk id="3" creationId="{B733D3F8-B26C-4B21-982F-D600358A56D3}"/>
          </ac:spMkLst>
        </pc:spChg>
      </pc:sldChg>
      <pc:sldChg chg="modSp add">
        <pc:chgData name="Chinedu Nwachukwu" userId="c5de2e0d69d95100" providerId="LiveId" clId="{A1F45B2F-1A78-4B68-B078-263A0AB6D3D7}" dt="2017-12-12T15:48:50.300" v="776" actId="14100"/>
        <pc:sldMkLst>
          <pc:docMk/>
          <pc:sldMk cId="98724276" sldId="281"/>
        </pc:sldMkLst>
        <pc:spChg chg="mod">
          <ac:chgData name="Chinedu Nwachukwu" userId="c5de2e0d69d95100" providerId="LiveId" clId="{A1F45B2F-1A78-4B68-B078-263A0AB6D3D7}" dt="2017-12-12T15:48:50.300" v="776" actId="14100"/>
          <ac:spMkLst>
            <pc:docMk/>
            <pc:sldMk cId="98724276" sldId="281"/>
            <ac:spMk id="2" creationId="{F6768906-2DCE-4295-B4F7-E7AC22568F5D}"/>
          </ac:spMkLst>
        </pc:spChg>
        <pc:spChg chg="mod">
          <ac:chgData name="Chinedu Nwachukwu" userId="c5de2e0d69d95100" providerId="LiveId" clId="{A1F45B2F-1A78-4B68-B078-263A0AB6D3D7}" dt="2017-12-12T15:48:35.019" v="774" actId="122"/>
          <ac:spMkLst>
            <pc:docMk/>
            <pc:sldMk cId="98724276" sldId="281"/>
            <ac:spMk id="3" creationId="{741E57F1-C673-4F03-AA12-6C118D6D13E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E6FE84-848F-465A-AECD-9B0C30F0F539}" type="datetimeFigureOut">
              <a:rPr lang="en-US" smtClean="0"/>
              <a:t>12/12/2017</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AF2AE7C-EAD7-461D-BC88-AE1CF464D90D}" type="slidenum">
              <a:rPr lang="en-US" smtClean="0"/>
              <a:t>‹#›</a:t>
            </a:fld>
            <a:endParaRPr lang="en-US"/>
          </a:p>
        </p:txBody>
      </p:sp>
    </p:spTree>
    <p:extLst>
      <p:ext uri="{BB962C8B-B14F-4D97-AF65-F5344CB8AC3E}">
        <p14:creationId xmlns:p14="http://schemas.microsoft.com/office/powerpoint/2010/main" val="5716433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Prognosis: The likely cause of a disease or ailment</a:t>
            </a:r>
          </a:p>
          <a:p>
            <a:r>
              <a:rPr lang="en-US" dirty="0"/>
              <a:t>Clinician: </a:t>
            </a:r>
          </a:p>
        </p:txBody>
      </p:sp>
      <p:sp>
        <p:nvSpPr>
          <p:cNvPr id="4" name="Slide Number Placeholder 3"/>
          <p:cNvSpPr>
            <a:spLocks noGrp="1"/>
          </p:cNvSpPr>
          <p:nvPr>
            <p:ph type="sldNum" sz="quarter" idx="10"/>
          </p:nvPr>
        </p:nvSpPr>
        <p:spPr/>
        <p:txBody>
          <a:bodyPr/>
          <a:lstStyle/>
          <a:p>
            <a:fld id="{2AF2AE7C-EAD7-461D-BC88-AE1CF464D90D}" type="slidenum">
              <a:rPr lang="en-US" smtClean="0"/>
              <a:t>7</a:t>
            </a:fld>
            <a:endParaRPr lang="en-US"/>
          </a:p>
        </p:txBody>
      </p:sp>
    </p:spTree>
    <p:extLst>
      <p:ext uri="{BB962C8B-B14F-4D97-AF65-F5344CB8AC3E}">
        <p14:creationId xmlns:p14="http://schemas.microsoft.com/office/powerpoint/2010/main" val="39541979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may seem odd that the technique is called </a:t>
            </a:r>
            <a:r>
              <a:rPr lang="en-US" b="1" dirty="0"/>
              <a:t>analysis of variance </a:t>
            </a:r>
            <a:r>
              <a:rPr lang="en-US" dirty="0"/>
              <a:t>rather than </a:t>
            </a:r>
            <a:r>
              <a:rPr lang="en-US" b="1" dirty="0"/>
              <a:t>analysis of means</a:t>
            </a:r>
          </a:p>
          <a:p>
            <a:r>
              <a:rPr lang="en-US" dirty="0"/>
              <a:t>As you will see, the name is appropriate because inferences about means are made by analyzing variance</a:t>
            </a:r>
          </a:p>
        </p:txBody>
      </p:sp>
      <p:sp>
        <p:nvSpPr>
          <p:cNvPr id="4" name="Slide Number Placeholder 3"/>
          <p:cNvSpPr>
            <a:spLocks noGrp="1"/>
          </p:cNvSpPr>
          <p:nvPr>
            <p:ph type="sldNum" sz="quarter" idx="10"/>
          </p:nvPr>
        </p:nvSpPr>
        <p:spPr/>
        <p:txBody>
          <a:bodyPr/>
          <a:lstStyle/>
          <a:p>
            <a:fld id="{2AF2AE7C-EAD7-461D-BC88-AE1CF464D90D}" type="slidenum">
              <a:rPr lang="en-US" smtClean="0"/>
              <a:t>11</a:t>
            </a:fld>
            <a:endParaRPr lang="en-US"/>
          </a:p>
        </p:txBody>
      </p:sp>
    </p:spTree>
    <p:extLst>
      <p:ext uri="{BB962C8B-B14F-4D97-AF65-F5344CB8AC3E}">
        <p14:creationId xmlns:p14="http://schemas.microsoft.com/office/powerpoint/2010/main" val="6900784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RStudio</a:t>
            </a:r>
            <a:r>
              <a:rPr lang="en-US" dirty="0"/>
              <a:t> is a free and open-source integrated development environment for R, a programming language for statistical computing and graphics. </a:t>
            </a:r>
            <a:r>
              <a:rPr lang="en-US" dirty="0" err="1"/>
              <a:t>RStudio</a:t>
            </a:r>
            <a:r>
              <a:rPr lang="en-US" dirty="0"/>
              <a:t> was founded by JJ Allaire, creator of the programming language ColdFusion.</a:t>
            </a:r>
          </a:p>
        </p:txBody>
      </p:sp>
      <p:sp>
        <p:nvSpPr>
          <p:cNvPr id="4" name="Slide Number Placeholder 3"/>
          <p:cNvSpPr>
            <a:spLocks noGrp="1"/>
          </p:cNvSpPr>
          <p:nvPr>
            <p:ph type="sldNum" sz="quarter" idx="10"/>
          </p:nvPr>
        </p:nvSpPr>
        <p:spPr/>
        <p:txBody>
          <a:bodyPr/>
          <a:lstStyle/>
          <a:p>
            <a:fld id="{2AF2AE7C-EAD7-461D-BC88-AE1CF464D90D}" type="slidenum">
              <a:rPr lang="en-US" smtClean="0"/>
              <a:t>12</a:t>
            </a:fld>
            <a:endParaRPr lang="en-US"/>
          </a:p>
        </p:txBody>
      </p:sp>
    </p:spTree>
    <p:extLst>
      <p:ext uri="{BB962C8B-B14F-4D97-AF65-F5344CB8AC3E}">
        <p14:creationId xmlns:p14="http://schemas.microsoft.com/office/powerpoint/2010/main" val="3042346181"/>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3284890-85D2-4D7B-8EF5-15A9C1DB8F42}" type="datetimeFigureOut">
              <a:rPr lang="en-US" dirty="0"/>
              <a:t>12/11/2017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4FAB73BC-B049-4115-A692-8D63A059BFB8}"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2F5661D-6934-4B32-B92C-470368BF1EC6}" type="datetimeFigureOut">
              <a:rPr lang="en-US" dirty="0"/>
              <a:t>12/11/2017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8593667" y="6272784"/>
            <a:ext cx="2644309" cy="365125"/>
          </a:xfrm>
        </p:spPr>
        <p:txBody>
          <a:bodyPr/>
          <a:lstStyle/>
          <a:p>
            <a:fld id="{C6F822A4-8DA6-4447-9B1F-C5DB58435268}" type="datetimeFigureOut">
              <a:rPr lang="en-US" dirty="0"/>
              <a:t>12/11/2017</a:t>
            </a:fld>
            <a:endParaRPr lang="en-US" dirty="0"/>
          </a:p>
        </p:txBody>
      </p:sp>
      <p:sp>
        <p:nvSpPr>
          <p:cNvPr id="5" name="Footer Placeholder 4"/>
          <p:cNvSpPr>
            <a:spLocks noGrp="1"/>
          </p:cNvSpPr>
          <p:nvPr>
            <p:ph type="ftr" sz="quarter" idx="11"/>
          </p:nvPr>
        </p:nvSpPr>
        <p:spPr>
          <a:xfrm>
            <a:off x="2182708" y="6272784"/>
            <a:ext cx="6327648" cy="365125"/>
          </a:xfrm>
        </p:spPr>
        <p:txBody>
          <a:bodyPr/>
          <a:lstStyle/>
          <a:p>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FAB73BC-B049-4115-A692-8D63A059BFB8}"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548D31E-DCDA-41A7-9C67-C4B11B94D21D}" type="datetimeFigureOut">
              <a:rPr lang="en-US" dirty="0"/>
              <a:t>12/11/2017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B3762C0-B258-48F1-ADE6-176B4174CCDD}" type="datetimeFigureOut">
              <a:rPr lang="en-US" dirty="0"/>
              <a:t>12/11/2017</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77919A6-33EB-49BD-A62F-1FA56B9F9712}" type="datetimeFigureOut">
              <a:rPr lang="en-US" dirty="0"/>
              <a:t>12/11/2017</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4E7D1B-D673-4CF6-8672-009D42ABD2A0}" type="datetimeFigureOut">
              <a:rPr lang="en-US" dirty="0"/>
              <a:t>12/11/2017</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DA16AA21-1863-4931-97CB-99D0A168701B}" type="datetimeFigureOut">
              <a:rPr lang="en-US" dirty="0"/>
              <a:t>12/11/2017</a:t>
            </a:fld>
            <a:endParaRPr lang="en-US" dirty="0"/>
          </a:p>
        </p:txBody>
      </p:sp>
      <p:sp>
        <p:nvSpPr>
          <p:cNvPr id="6" name="Footer Placeholder 5"/>
          <p:cNvSpPr>
            <a:spLocks noGrp="1"/>
          </p:cNvSpPr>
          <p:nvPr>
            <p:ph type="ftr" sz="quarter" idx="11"/>
          </p:nvPr>
        </p:nvSpPr>
        <p:spPr/>
        <p:txBody>
          <a:bodyPr/>
          <a:lstStyle/>
          <a:p>
            <a:endParaRPr lang="en-US" dirty="0"/>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772C379-9A7C-4C87-A116-CBE9F58B04C5}" type="datetimeFigureOut">
              <a:rPr lang="en-US" dirty="0"/>
              <a:t>12/11/2017</a:t>
            </a:fld>
            <a:endParaRPr lang="en-US" dirty="0"/>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157CC2-0FC8-4686-B024-99790E0F5162}" type="datetimeFigureOut">
              <a:rPr lang="en-US" dirty="0"/>
              <a:t>12/11/2017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764DA5-CD3D-4590-A511-FCD3BC7A793E}" type="datetimeFigureOut">
              <a:rPr lang="en-US" dirty="0"/>
              <a:t>12/11/2017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8664C608-40B1-4030-A28D-5B74BC98ADCE}" type="datetimeFigureOut">
              <a:rPr lang="en-US" dirty="0"/>
              <a:t>12/11/2017</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4FAB73BC-B049-4115-A692-8D63A059BFB8}"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ABE430-4C2E-4221-AEE7-42F36A630149}"/>
              </a:ext>
            </a:extLst>
          </p:cNvPr>
          <p:cNvSpPr>
            <a:spLocks noGrp="1"/>
          </p:cNvSpPr>
          <p:nvPr>
            <p:ph type="ctrTitle"/>
          </p:nvPr>
        </p:nvSpPr>
        <p:spPr>
          <a:xfrm>
            <a:off x="695345" y="1403379"/>
            <a:ext cx="10801310" cy="2510895"/>
          </a:xfrm>
        </p:spPr>
        <p:txBody>
          <a:bodyPr/>
          <a:lstStyle/>
          <a:p>
            <a:r>
              <a:rPr lang="en-US" sz="4000" b="1" dirty="0"/>
              <a:t>Study on Application of Bayesian Networks and SEER Database in the Predicting of Non-Small Cell Lung Cancer</a:t>
            </a:r>
            <a:endParaRPr lang="en-US" sz="4000" dirty="0"/>
          </a:p>
        </p:txBody>
      </p:sp>
      <p:sp>
        <p:nvSpPr>
          <p:cNvPr id="3" name="Subtitle 2">
            <a:extLst>
              <a:ext uri="{FF2B5EF4-FFF2-40B4-BE49-F238E27FC236}">
                <a16:creationId xmlns:a16="http://schemas.microsoft.com/office/drawing/2014/main" id="{AE198C9E-4BD2-45E3-99F5-30AA0387419D}"/>
              </a:ext>
            </a:extLst>
          </p:cNvPr>
          <p:cNvSpPr>
            <a:spLocks noGrp="1"/>
          </p:cNvSpPr>
          <p:nvPr>
            <p:ph type="subTitle" idx="1"/>
          </p:nvPr>
        </p:nvSpPr>
        <p:spPr>
          <a:xfrm>
            <a:off x="1069848" y="3914274"/>
            <a:ext cx="8587500" cy="1544694"/>
          </a:xfrm>
        </p:spPr>
        <p:txBody>
          <a:bodyPr>
            <a:normAutofit fontScale="92500" lnSpcReduction="10000"/>
          </a:bodyPr>
          <a:lstStyle/>
          <a:p>
            <a:pPr algn="ctr"/>
            <a:r>
              <a:rPr lang="en-US" dirty="0"/>
              <a:t>By</a:t>
            </a:r>
          </a:p>
          <a:p>
            <a:pPr algn="r"/>
            <a:r>
              <a:rPr lang="en-US" dirty="0"/>
              <a:t>Wei Chen</a:t>
            </a:r>
          </a:p>
          <a:p>
            <a:pPr algn="r"/>
            <a:r>
              <a:rPr lang="en-US" dirty="0"/>
              <a:t>Chinedu nwachukwu</a:t>
            </a:r>
          </a:p>
          <a:p>
            <a:pPr algn="r"/>
            <a:r>
              <a:rPr lang="en-US" dirty="0"/>
              <a:t>Dec. 12, 2017</a:t>
            </a:r>
          </a:p>
        </p:txBody>
      </p:sp>
    </p:spTree>
    <p:extLst>
      <p:ext uri="{BB962C8B-B14F-4D97-AF65-F5344CB8AC3E}">
        <p14:creationId xmlns:p14="http://schemas.microsoft.com/office/powerpoint/2010/main" val="23554094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42EA6-DF7D-4CBF-8AB5-468DFB938630}"/>
              </a:ext>
            </a:extLst>
          </p:cNvPr>
          <p:cNvSpPr>
            <a:spLocks noGrp="1"/>
          </p:cNvSpPr>
          <p:nvPr>
            <p:ph type="title"/>
          </p:nvPr>
        </p:nvSpPr>
        <p:spPr/>
        <p:txBody>
          <a:bodyPr/>
          <a:lstStyle/>
          <a:p>
            <a:r>
              <a:rPr lang="en-US" dirty="0"/>
              <a:t>Overview</a:t>
            </a:r>
          </a:p>
        </p:txBody>
      </p:sp>
      <p:sp>
        <p:nvSpPr>
          <p:cNvPr id="3" name="Content Placeholder 2">
            <a:extLst>
              <a:ext uri="{FF2B5EF4-FFF2-40B4-BE49-F238E27FC236}">
                <a16:creationId xmlns:a16="http://schemas.microsoft.com/office/drawing/2014/main" id="{8D0F7D4A-B7F7-43E4-A46F-52C89F9B407F}"/>
              </a:ext>
            </a:extLst>
          </p:cNvPr>
          <p:cNvSpPr>
            <a:spLocks noGrp="1"/>
          </p:cNvSpPr>
          <p:nvPr>
            <p:ph idx="1"/>
          </p:nvPr>
        </p:nvSpPr>
        <p:spPr/>
        <p:txBody>
          <a:bodyPr>
            <a:normAutofit/>
          </a:bodyPr>
          <a:lstStyle/>
          <a:p>
            <a:r>
              <a:rPr lang="en-US" sz="3200" dirty="0"/>
              <a:t>Introduction</a:t>
            </a:r>
          </a:p>
          <a:p>
            <a:r>
              <a:rPr lang="en-US" sz="3200" dirty="0"/>
              <a:t>Bayesian Networks Theory</a:t>
            </a:r>
          </a:p>
          <a:p>
            <a:r>
              <a:rPr lang="en-US" sz="3200" dirty="0"/>
              <a:t>Construction plan of Tumor Prognostic model</a:t>
            </a:r>
          </a:p>
          <a:p>
            <a:r>
              <a:rPr lang="en-US" sz="3200" dirty="0"/>
              <a:t>Processing</a:t>
            </a:r>
          </a:p>
          <a:p>
            <a:r>
              <a:rPr lang="en-US" sz="3200" dirty="0"/>
              <a:t>Conclusion</a:t>
            </a:r>
          </a:p>
        </p:txBody>
      </p:sp>
    </p:spTree>
    <p:extLst>
      <p:ext uri="{BB962C8B-B14F-4D97-AF65-F5344CB8AC3E}">
        <p14:creationId xmlns:p14="http://schemas.microsoft.com/office/powerpoint/2010/main" val="41720842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DC194-3E75-4695-BE17-165466F4ED1A}"/>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BD340865-9C2C-46C2-8CA0-60C6D77221E0}"/>
              </a:ext>
            </a:extLst>
          </p:cNvPr>
          <p:cNvSpPr>
            <a:spLocks noGrp="1"/>
          </p:cNvSpPr>
          <p:nvPr>
            <p:ph idx="1"/>
          </p:nvPr>
        </p:nvSpPr>
        <p:spPr>
          <a:xfrm>
            <a:off x="1069848" y="1907931"/>
            <a:ext cx="10058400" cy="4465437"/>
          </a:xfrm>
        </p:spPr>
        <p:txBody>
          <a:bodyPr/>
          <a:lstStyle/>
          <a:p>
            <a:r>
              <a:rPr lang="en-US" dirty="0"/>
              <a:t>In medicine, accurate diagnosis and prediction is often necessary to model a patients condition over time</a:t>
            </a:r>
          </a:p>
          <a:p>
            <a:r>
              <a:rPr lang="en-US" dirty="0"/>
              <a:t>The level of uncertainty in clinical medicine is high</a:t>
            </a:r>
          </a:p>
          <a:p>
            <a:r>
              <a:rPr lang="en-US" dirty="0"/>
              <a:t>The need for prognostic evaluation and diagnostics keep arising to be able to represent and reason with uncertainty</a:t>
            </a:r>
          </a:p>
          <a:p>
            <a:r>
              <a:rPr lang="en-US" dirty="0"/>
              <a:t>Lung cancer is a leading cause of cancer death worldwide</a:t>
            </a:r>
          </a:p>
          <a:p>
            <a:r>
              <a:rPr lang="en-US" dirty="0"/>
              <a:t>Non-small cell lung cancer (NSCLC) accounts for approximately 83% of the known cancer cases</a:t>
            </a:r>
          </a:p>
          <a:p>
            <a:r>
              <a:rPr lang="en-US" dirty="0"/>
              <a:t>For treatment, a combination of chemotherapy and radiotherapy is mainly used in contrast to surgical resection</a:t>
            </a:r>
          </a:p>
          <a:p>
            <a:r>
              <a:rPr lang="en-US" dirty="0"/>
              <a:t>However, the patients with locally advanced NSCLC that use radiotherapy suffer from a high local failure rate </a:t>
            </a:r>
          </a:p>
        </p:txBody>
      </p:sp>
    </p:spTree>
    <p:extLst>
      <p:ext uri="{BB962C8B-B14F-4D97-AF65-F5344CB8AC3E}">
        <p14:creationId xmlns:p14="http://schemas.microsoft.com/office/powerpoint/2010/main" val="11274765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94050-CC5C-4B3D-9CCD-E77D76AB3B7D}"/>
              </a:ext>
            </a:extLst>
          </p:cNvPr>
          <p:cNvSpPr>
            <a:spLocks noGrp="1"/>
          </p:cNvSpPr>
          <p:nvPr>
            <p:ph type="title"/>
          </p:nvPr>
        </p:nvSpPr>
        <p:spPr/>
        <p:txBody>
          <a:bodyPr/>
          <a:lstStyle/>
          <a:p>
            <a:r>
              <a:rPr lang="en-US" dirty="0"/>
              <a:t>Introduction (cont’d)</a:t>
            </a:r>
          </a:p>
        </p:txBody>
      </p:sp>
      <p:sp>
        <p:nvSpPr>
          <p:cNvPr id="3" name="Content Placeholder 2">
            <a:extLst>
              <a:ext uri="{FF2B5EF4-FFF2-40B4-BE49-F238E27FC236}">
                <a16:creationId xmlns:a16="http://schemas.microsoft.com/office/drawing/2014/main" id="{AC7766F7-A07C-4AF5-A03D-45F771407DD5}"/>
              </a:ext>
            </a:extLst>
          </p:cNvPr>
          <p:cNvSpPr>
            <a:spLocks noGrp="1"/>
          </p:cNvSpPr>
          <p:nvPr>
            <p:ph idx="1"/>
          </p:nvPr>
        </p:nvSpPr>
        <p:spPr/>
        <p:txBody>
          <a:bodyPr/>
          <a:lstStyle/>
          <a:p>
            <a:r>
              <a:rPr lang="en-US" dirty="0"/>
              <a:t>In spite efforts to improve this, a low 2-year local control rate of 27% require innovative diagnostics and the need of a prognostic model to improve early detection of tumor local failure</a:t>
            </a:r>
          </a:p>
          <a:p>
            <a:r>
              <a:rPr lang="en-US" dirty="0"/>
              <a:t>The Surveillance, Epidemiology and End Results (SEER) database was set up by NCI – National Cancer Institute in 1973 to track all the cancer patients</a:t>
            </a:r>
          </a:p>
          <a:p>
            <a:r>
              <a:rPr lang="en-US" dirty="0"/>
              <a:t>The database is one of the worlds recognized data sources for cancer patients. Reliable data provision in support for clinical research</a:t>
            </a:r>
          </a:p>
          <a:p>
            <a:r>
              <a:rPr lang="en-US" dirty="0"/>
              <a:t>Some scholars set up a rhabdomyosarcoma and other disease survival model by simple statistics method from the SEER database</a:t>
            </a:r>
          </a:p>
        </p:txBody>
      </p:sp>
    </p:spTree>
    <p:extLst>
      <p:ext uri="{BB962C8B-B14F-4D97-AF65-F5344CB8AC3E}">
        <p14:creationId xmlns:p14="http://schemas.microsoft.com/office/powerpoint/2010/main" val="38530553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90D4D-C1F0-4E19-B1A2-1B81A2768CF0}"/>
              </a:ext>
            </a:extLst>
          </p:cNvPr>
          <p:cNvSpPr>
            <a:spLocks noGrp="1"/>
          </p:cNvSpPr>
          <p:nvPr>
            <p:ph type="title"/>
          </p:nvPr>
        </p:nvSpPr>
        <p:spPr/>
        <p:txBody>
          <a:bodyPr/>
          <a:lstStyle/>
          <a:p>
            <a:r>
              <a:rPr lang="en-US" dirty="0"/>
              <a:t>Bayesian networks theory</a:t>
            </a:r>
          </a:p>
        </p:txBody>
      </p:sp>
      <p:sp>
        <p:nvSpPr>
          <p:cNvPr id="3" name="Content Placeholder 2">
            <a:extLst>
              <a:ext uri="{FF2B5EF4-FFF2-40B4-BE49-F238E27FC236}">
                <a16:creationId xmlns:a16="http://schemas.microsoft.com/office/drawing/2014/main" id="{F84D46C1-A2F2-48D8-BF8E-82166BBE41EB}"/>
              </a:ext>
            </a:extLst>
          </p:cNvPr>
          <p:cNvSpPr>
            <a:spLocks noGrp="1"/>
          </p:cNvSpPr>
          <p:nvPr>
            <p:ph idx="1"/>
          </p:nvPr>
        </p:nvSpPr>
        <p:spPr>
          <a:xfrm>
            <a:off x="1069848" y="1751076"/>
            <a:ext cx="10058400" cy="4931078"/>
          </a:xfrm>
        </p:spPr>
        <p:txBody>
          <a:bodyPr/>
          <a:lstStyle/>
          <a:p>
            <a:r>
              <a:rPr lang="en-US" dirty="0"/>
              <a:t>Bayesian Networks (BN) is a probabilistic graphical model that represents a set of random variables and their conditional dependencies via a directed acyclic </a:t>
            </a:r>
            <a:r>
              <a:rPr lang="en-US" dirty="0" err="1"/>
              <a:t>grapg</a:t>
            </a:r>
            <a:r>
              <a:rPr lang="en-US" dirty="0"/>
              <a:t> (DAG)</a:t>
            </a:r>
          </a:p>
          <a:p>
            <a:r>
              <a:rPr lang="en-US" dirty="0"/>
              <a:t>Bayesian Network (BN) models are a class of machine learning models with some unique characteristics that make them suitable for medical applications</a:t>
            </a:r>
          </a:p>
          <a:p>
            <a:r>
              <a:rPr lang="en-US" dirty="0"/>
              <a:t>BN has been used as a tool to create individual predictive models due to its several attractive characteristics, which have led to various successes in the field of oncology (Tumors)</a:t>
            </a:r>
          </a:p>
          <a:p>
            <a:r>
              <a:rPr lang="en-US" dirty="0"/>
              <a:t>They are currently the most powerful and popular method for representing and reasoning with probabilistic uncertainties inherent to the medical domain</a:t>
            </a:r>
          </a:p>
          <a:p>
            <a:r>
              <a:rPr lang="en-US" dirty="0"/>
              <a:t>The representation of BN is in the form of a graph which is relatively easy to interpret for the medical community</a:t>
            </a:r>
          </a:p>
          <a:p>
            <a:r>
              <a:rPr lang="en-US" dirty="0"/>
              <a:t>The dependence relations between the features revealing the cause-effect relationships are considered in the medical data</a:t>
            </a:r>
          </a:p>
          <a:p>
            <a:endParaRPr lang="en-US" dirty="0"/>
          </a:p>
        </p:txBody>
      </p:sp>
    </p:spTree>
    <p:extLst>
      <p:ext uri="{BB962C8B-B14F-4D97-AF65-F5344CB8AC3E}">
        <p14:creationId xmlns:p14="http://schemas.microsoft.com/office/powerpoint/2010/main" val="6486005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A62FFC-CB64-4B82-AE3F-1FAE0987EC53}"/>
              </a:ext>
            </a:extLst>
          </p:cNvPr>
          <p:cNvSpPr>
            <a:spLocks noGrp="1"/>
          </p:cNvSpPr>
          <p:nvPr>
            <p:ph type="title"/>
          </p:nvPr>
        </p:nvSpPr>
        <p:spPr/>
        <p:txBody>
          <a:bodyPr/>
          <a:lstStyle/>
          <a:p>
            <a:r>
              <a:rPr lang="en-US" dirty="0"/>
              <a:t>Bayesian network (BN) Applications</a:t>
            </a:r>
          </a:p>
        </p:txBody>
      </p:sp>
      <p:sp>
        <p:nvSpPr>
          <p:cNvPr id="3" name="Content Placeholder 2">
            <a:extLst>
              <a:ext uri="{FF2B5EF4-FFF2-40B4-BE49-F238E27FC236}">
                <a16:creationId xmlns:a16="http://schemas.microsoft.com/office/drawing/2014/main" id="{FFCFDDB4-E26E-4887-9DD9-FBA329ACA413}"/>
              </a:ext>
            </a:extLst>
          </p:cNvPr>
          <p:cNvSpPr>
            <a:spLocks noGrp="1"/>
          </p:cNvSpPr>
          <p:nvPr>
            <p:ph idx="1"/>
          </p:nvPr>
        </p:nvSpPr>
        <p:spPr>
          <a:xfrm>
            <a:off x="1069848" y="2121408"/>
            <a:ext cx="10058400" cy="4251960"/>
          </a:xfrm>
        </p:spPr>
        <p:txBody>
          <a:bodyPr/>
          <a:lstStyle/>
          <a:p>
            <a:r>
              <a:rPr lang="en-US" dirty="0" err="1"/>
              <a:t>Jayasurya</a:t>
            </a:r>
            <a:r>
              <a:rPr lang="en-US" dirty="0"/>
              <a:t> et al (2010) proposed a BN model for survival prediction in lung cancer patients</a:t>
            </a:r>
          </a:p>
          <a:p>
            <a:r>
              <a:rPr lang="en-US" dirty="0" err="1"/>
              <a:t>Velikova</a:t>
            </a:r>
            <a:r>
              <a:rPr lang="en-US" dirty="0"/>
              <a:t> et al (2009) designed a multi-view </a:t>
            </a:r>
            <a:r>
              <a:rPr lang="en-US" dirty="0" err="1"/>
              <a:t>mammorgraphic</a:t>
            </a:r>
            <a:r>
              <a:rPr lang="en-US" dirty="0"/>
              <a:t> analysis system using a BN framework to detect breast cancer, which showed potential in selecting the most suspicious cases</a:t>
            </a:r>
          </a:p>
          <a:p>
            <a:r>
              <a:rPr lang="en-US" dirty="0"/>
              <a:t>Chen et al (2006) proposed an effective BN structure based on mutual information and k2 algorithm to reconstruct reliable gene </a:t>
            </a:r>
            <a:r>
              <a:rPr lang="en-US" dirty="0" err="1"/>
              <a:t>netwoks</a:t>
            </a:r>
            <a:endParaRPr lang="en-US" dirty="0"/>
          </a:p>
          <a:p>
            <a:r>
              <a:rPr lang="en-US" dirty="0"/>
              <a:t>Van-</a:t>
            </a:r>
            <a:r>
              <a:rPr lang="en-US" dirty="0" err="1"/>
              <a:t>Gerven</a:t>
            </a:r>
            <a:r>
              <a:rPr lang="en-US" dirty="0"/>
              <a:t> et al (2008) demonstrated the development of a prognostic model for carcinoid patients using dynamic BN</a:t>
            </a:r>
          </a:p>
          <a:p>
            <a:r>
              <a:rPr lang="en-US" dirty="0"/>
              <a:t>Smith et al (2009) developed a prognostic model for prostate cancer with intensity modulated radiation therapy (IMRT) plans and was able to calculate the quality-adjusted for life expectancy for each plan</a:t>
            </a:r>
          </a:p>
        </p:txBody>
      </p:sp>
    </p:spTree>
    <p:extLst>
      <p:ext uri="{BB962C8B-B14F-4D97-AF65-F5344CB8AC3E}">
        <p14:creationId xmlns:p14="http://schemas.microsoft.com/office/powerpoint/2010/main" val="2384398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42E778-73B7-4222-B27B-2B21BEB3F09C}"/>
              </a:ext>
            </a:extLst>
          </p:cNvPr>
          <p:cNvSpPr>
            <a:spLocks noGrp="1"/>
          </p:cNvSpPr>
          <p:nvPr>
            <p:ph type="title"/>
          </p:nvPr>
        </p:nvSpPr>
        <p:spPr/>
        <p:txBody>
          <a:bodyPr/>
          <a:lstStyle/>
          <a:p>
            <a:r>
              <a:rPr lang="en-US" dirty="0"/>
              <a:t>The study?</a:t>
            </a:r>
          </a:p>
        </p:txBody>
      </p:sp>
      <p:sp>
        <p:nvSpPr>
          <p:cNvPr id="3" name="Content Placeholder 2">
            <a:extLst>
              <a:ext uri="{FF2B5EF4-FFF2-40B4-BE49-F238E27FC236}">
                <a16:creationId xmlns:a16="http://schemas.microsoft.com/office/drawing/2014/main" id="{F45C9408-8556-4FFA-8CA0-98C4D83F2E81}"/>
              </a:ext>
            </a:extLst>
          </p:cNvPr>
          <p:cNvSpPr>
            <a:spLocks noGrp="1"/>
          </p:cNvSpPr>
          <p:nvPr>
            <p:ph idx="1"/>
          </p:nvPr>
        </p:nvSpPr>
        <p:spPr>
          <a:xfrm>
            <a:off x="1069848" y="2121408"/>
            <a:ext cx="10058400" cy="4050792"/>
          </a:xfrm>
        </p:spPr>
        <p:txBody>
          <a:bodyPr/>
          <a:lstStyle/>
          <a:p>
            <a:r>
              <a:rPr lang="en-US" dirty="0"/>
              <a:t>The present study, will use SEER database to extract the NSCLC cases of Asians</a:t>
            </a:r>
          </a:p>
          <a:p>
            <a:endParaRPr lang="en-US" dirty="0"/>
          </a:p>
          <a:p>
            <a:r>
              <a:rPr lang="en-US" dirty="0"/>
              <a:t> Adopt the relationships and applicability of better machine learning methods that will build Asian NSCLC prognosis model</a:t>
            </a:r>
          </a:p>
          <a:p>
            <a:endParaRPr lang="en-US" dirty="0"/>
          </a:p>
          <a:p>
            <a:r>
              <a:rPr lang="en-US" dirty="0"/>
              <a:t>Prediction assessment system</a:t>
            </a:r>
          </a:p>
          <a:p>
            <a:endParaRPr lang="en-US" dirty="0"/>
          </a:p>
          <a:p>
            <a:r>
              <a:rPr lang="en-US" dirty="0"/>
              <a:t>Provide decision support for the treatment and prognosis of clinicians</a:t>
            </a:r>
          </a:p>
        </p:txBody>
      </p:sp>
    </p:spTree>
    <p:extLst>
      <p:ext uri="{BB962C8B-B14F-4D97-AF65-F5344CB8AC3E}">
        <p14:creationId xmlns:p14="http://schemas.microsoft.com/office/powerpoint/2010/main" val="11147123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408CF4-08C2-4E8B-B365-6E53518DEC02}"/>
              </a:ext>
            </a:extLst>
          </p:cNvPr>
          <p:cNvSpPr>
            <a:spLocks noGrp="1"/>
          </p:cNvSpPr>
          <p:nvPr>
            <p:ph type="title"/>
          </p:nvPr>
        </p:nvSpPr>
        <p:spPr/>
        <p:txBody>
          <a:bodyPr/>
          <a:lstStyle/>
          <a:p>
            <a:r>
              <a:rPr lang="en-US" b="1" cap="small" dirty="0"/>
              <a:t>CONSTRUCTION PLAN OF TUMOR PROGNOSTIC MODEL</a:t>
            </a:r>
            <a:endParaRPr lang="en-US" dirty="0"/>
          </a:p>
        </p:txBody>
      </p:sp>
      <p:sp>
        <p:nvSpPr>
          <p:cNvPr id="3" name="Content Placeholder 2">
            <a:extLst>
              <a:ext uri="{FF2B5EF4-FFF2-40B4-BE49-F238E27FC236}">
                <a16:creationId xmlns:a16="http://schemas.microsoft.com/office/drawing/2014/main" id="{ED598627-BB0F-4644-BEC8-D50EB236D639}"/>
              </a:ext>
            </a:extLst>
          </p:cNvPr>
          <p:cNvSpPr>
            <a:spLocks noGrp="1"/>
          </p:cNvSpPr>
          <p:nvPr>
            <p:ph idx="1"/>
          </p:nvPr>
        </p:nvSpPr>
        <p:spPr/>
        <p:txBody>
          <a:bodyPr/>
          <a:lstStyle/>
          <a:p>
            <a:endParaRPr lang="en-US" dirty="0"/>
          </a:p>
        </p:txBody>
      </p:sp>
      <p:pic>
        <p:nvPicPr>
          <p:cNvPr id="4" name="内容占位符 3" descr="Fig. 1.jpg">
            <a:extLst>
              <a:ext uri="{FF2B5EF4-FFF2-40B4-BE49-F238E27FC236}">
                <a16:creationId xmlns:a16="http://schemas.microsoft.com/office/drawing/2014/main" id="{4A9773AD-4CB1-4F41-992A-A5F7B4EFFFCA}"/>
              </a:ext>
            </a:extLst>
          </p:cNvPr>
          <p:cNvPicPr>
            <a:picLocks noChangeAspect="1"/>
          </p:cNvPicPr>
          <p:nvPr/>
        </p:nvPicPr>
        <p:blipFill>
          <a:blip r:embed="rId2"/>
          <a:stretch>
            <a:fillRect/>
          </a:stretch>
        </p:blipFill>
        <p:spPr>
          <a:xfrm>
            <a:off x="1961756" y="1997261"/>
            <a:ext cx="7718574" cy="4565094"/>
          </a:xfrm>
          <a:prstGeom prst="rect">
            <a:avLst/>
          </a:prstGeom>
        </p:spPr>
      </p:pic>
    </p:spTree>
    <p:extLst>
      <p:ext uri="{BB962C8B-B14F-4D97-AF65-F5344CB8AC3E}">
        <p14:creationId xmlns:p14="http://schemas.microsoft.com/office/powerpoint/2010/main" val="6923063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192EF-F132-41CE-A20E-D925B2B9AB8B}"/>
              </a:ext>
            </a:extLst>
          </p:cNvPr>
          <p:cNvSpPr>
            <a:spLocks noGrp="1"/>
          </p:cNvSpPr>
          <p:nvPr>
            <p:ph type="title"/>
          </p:nvPr>
        </p:nvSpPr>
        <p:spPr/>
        <p:txBody>
          <a:bodyPr/>
          <a:lstStyle/>
          <a:p>
            <a:r>
              <a:rPr lang="en-US" dirty="0"/>
              <a:t>Process – data download</a:t>
            </a:r>
          </a:p>
        </p:txBody>
      </p:sp>
      <p:sp>
        <p:nvSpPr>
          <p:cNvPr id="3" name="Content Placeholder 2">
            <a:extLst>
              <a:ext uri="{FF2B5EF4-FFF2-40B4-BE49-F238E27FC236}">
                <a16:creationId xmlns:a16="http://schemas.microsoft.com/office/drawing/2014/main" id="{55D1644E-F9CF-46C4-8FCD-BD57D192B5B8}"/>
              </a:ext>
            </a:extLst>
          </p:cNvPr>
          <p:cNvSpPr>
            <a:spLocks noGrp="1"/>
          </p:cNvSpPr>
          <p:nvPr>
            <p:ph idx="1"/>
          </p:nvPr>
        </p:nvSpPr>
        <p:spPr/>
        <p:txBody>
          <a:bodyPr/>
          <a:lstStyle/>
          <a:p>
            <a:r>
              <a:rPr lang="en-US" dirty="0"/>
              <a:t>The data of “Incidence – SEER18 </a:t>
            </a:r>
            <a:r>
              <a:rPr lang="en-US" dirty="0" err="1"/>
              <a:t>Regs</a:t>
            </a:r>
            <a:r>
              <a:rPr lang="en-US" dirty="0"/>
              <a:t> Research </a:t>
            </a:r>
            <a:r>
              <a:rPr lang="en-US" dirty="0" err="1"/>
              <a:t>Data+Hurricane</a:t>
            </a:r>
            <a:r>
              <a:rPr lang="en-US" dirty="0"/>
              <a:t> Katrina Impacted Louisiana Cases, Nov 2014” was invoked by the SEER statistical software</a:t>
            </a:r>
          </a:p>
          <a:p>
            <a:endParaRPr lang="en-US" dirty="0"/>
          </a:p>
          <a:p>
            <a:r>
              <a:rPr lang="en-US" dirty="0"/>
              <a:t>The version of the SEER statistical software was released at the end of 2012</a:t>
            </a:r>
          </a:p>
          <a:p>
            <a:endParaRPr lang="en-US" dirty="0"/>
          </a:p>
          <a:p>
            <a:r>
              <a:rPr lang="en-US" dirty="0"/>
              <a:t>The data downloaded is based on the morphological coding of ICD-O-3 malignant tumor</a:t>
            </a:r>
          </a:p>
        </p:txBody>
      </p:sp>
    </p:spTree>
    <p:extLst>
      <p:ext uri="{BB962C8B-B14F-4D97-AF65-F5344CB8AC3E}">
        <p14:creationId xmlns:p14="http://schemas.microsoft.com/office/powerpoint/2010/main" val="13494723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44A921-CF48-4E57-9E49-E3E7546AD15B}"/>
              </a:ext>
            </a:extLst>
          </p:cNvPr>
          <p:cNvSpPr>
            <a:spLocks noGrp="1"/>
          </p:cNvSpPr>
          <p:nvPr>
            <p:ph type="title"/>
          </p:nvPr>
        </p:nvSpPr>
        <p:spPr/>
        <p:txBody>
          <a:bodyPr/>
          <a:lstStyle/>
          <a:p>
            <a:r>
              <a:rPr lang="en-US" dirty="0"/>
              <a:t>Process – basis for variable selection</a:t>
            </a:r>
          </a:p>
        </p:txBody>
      </p:sp>
      <p:sp>
        <p:nvSpPr>
          <p:cNvPr id="3" name="Content Placeholder 2">
            <a:extLst>
              <a:ext uri="{FF2B5EF4-FFF2-40B4-BE49-F238E27FC236}">
                <a16:creationId xmlns:a16="http://schemas.microsoft.com/office/drawing/2014/main" id="{FD64E070-50DC-40F2-8D2B-0CA07B2883C5}"/>
              </a:ext>
            </a:extLst>
          </p:cNvPr>
          <p:cNvSpPr>
            <a:spLocks noGrp="1"/>
          </p:cNvSpPr>
          <p:nvPr>
            <p:ph idx="1"/>
          </p:nvPr>
        </p:nvSpPr>
        <p:spPr/>
        <p:txBody>
          <a:bodyPr/>
          <a:lstStyle/>
          <a:p>
            <a:r>
              <a:rPr lang="en-US" dirty="0"/>
              <a:t>According to the American Joint Committee on Cancer (AJCC), the National Comprehensive Cancer Network (NCCN) and Collaborative Stage Manual online help (CS), the related fields to the patients prognostic factors, all the fields that contained the following variables where extracted from SEER statistical software</a:t>
            </a:r>
          </a:p>
          <a:p>
            <a:pPr lvl="1"/>
            <a:r>
              <a:rPr lang="en-US" dirty="0"/>
              <a:t>Stage: - Grade, Size</a:t>
            </a:r>
          </a:p>
          <a:p>
            <a:pPr lvl="1"/>
            <a:r>
              <a:rPr lang="en-US" dirty="0"/>
              <a:t>Positive: - Exam, Ratio</a:t>
            </a:r>
          </a:p>
          <a:p>
            <a:pPr lvl="1"/>
            <a:r>
              <a:rPr lang="en-US" dirty="0"/>
              <a:t>Status: - Age, Ratio</a:t>
            </a:r>
          </a:p>
          <a:p>
            <a:r>
              <a:rPr lang="en-US" dirty="0"/>
              <a:t>The data was registered from the first diagnosis and the information was organized to lead in tables</a:t>
            </a:r>
          </a:p>
        </p:txBody>
      </p:sp>
    </p:spTree>
    <p:extLst>
      <p:ext uri="{BB962C8B-B14F-4D97-AF65-F5344CB8AC3E}">
        <p14:creationId xmlns:p14="http://schemas.microsoft.com/office/powerpoint/2010/main" val="12437415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CAF34-E344-4624-B85B-38E57C7D34B4}"/>
              </a:ext>
            </a:extLst>
          </p:cNvPr>
          <p:cNvSpPr>
            <a:spLocks noGrp="1"/>
          </p:cNvSpPr>
          <p:nvPr>
            <p:ph type="title"/>
          </p:nvPr>
        </p:nvSpPr>
        <p:spPr/>
        <p:txBody>
          <a:bodyPr/>
          <a:lstStyle/>
          <a:p>
            <a:r>
              <a:rPr lang="en-US" dirty="0"/>
              <a:t>Process – screening of variable</a:t>
            </a:r>
          </a:p>
        </p:txBody>
      </p:sp>
      <p:sp>
        <p:nvSpPr>
          <p:cNvPr id="3" name="Content Placeholder 2">
            <a:extLst>
              <a:ext uri="{FF2B5EF4-FFF2-40B4-BE49-F238E27FC236}">
                <a16:creationId xmlns:a16="http://schemas.microsoft.com/office/drawing/2014/main" id="{0D74EAAE-0949-4C9A-AD76-84F1FE982FF5}"/>
              </a:ext>
            </a:extLst>
          </p:cNvPr>
          <p:cNvSpPr>
            <a:spLocks noGrp="1"/>
          </p:cNvSpPr>
          <p:nvPr>
            <p:ph idx="1"/>
          </p:nvPr>
        </p:nvSpPr>
        <p:spPr/>
        <p:txBody>
          <a:bodyPr/>
          <a:lstStyle/>
          <a:p>
            <a:r>
              <a:rPr lang="en-US" dirty="0"/>
              <a:t>In determining the variable independence of the patients survival, SPSS22.0 software was first applied to </a:t>
            </a:r>
            <a:r>
              <a:rPr lang="en-US" dirty="0" err="1"/>
              <a:t>analyse</a:t>
            </a:r>
            <a:r>
              <a:rPr lang="en-US" dirty="0"/>
              <a:t> the training samples with one-way ANOVA analysis test</a:t>
            </a:r>
          </a:p>
          <a:p>
            <a:r>
              <a:rPr lang="en-US" dirty="0"/>
              <a:t>ANOVA (Analysis of Variance) is a statistical method used to test differences between two or more means</a:t>
            </a:r>
          </a:p>
          <a:p>
            <a:r>
              <a:rPr lang="en-US" dirty="0"/>
              <a:t>Logistic regression analysis was used to </a:t>
            </a:r>
            <a:r>
              <a:rPr lang="en-US" dirty="0" err="1"/>
              <a:t>analyse</a:t>
            </a:r>
            <a:r>
              <a:rPr lang="en-US" dirty="0"/>
              <a:t> the variables obtained by single factor analysis</a:t>
            </a:r>
          </a:p>
          <a:p>
            <a:r>
              <a:rPr lang="en-US" dirty="0"/>
              <a:t>Screening NSCLC high correlation prognostic factors, P&lt;0.05 was statistically significant</a:t>
            </a:r>
          </a:p>
          <a:p>
            <a:r>
              <a:rPr lang="en-US" dirty="0"/>
              <a:t>The adjustment variables are incorporated into the final model in combination with the recommendations of clinicians</a:t>
            </a:r>
          </a:p>
        </p:txBody>
      </p:sp>
    </p:spTree>
    <p:extLst>
      <p:ext uri="{BB962C8B-B14F-4D97-AF65-F5344CB8AC3E}">
        <p14:creationId xmlns:p14="http://schemas.microsoft.com/office/powerpoint/2010/main" val="26339911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E2FB8C-86B1-43C8-BE5A-F330E8162C78}"/>
              </a:ext>
            </a:extLst>
          </p:cNvPr>
          <p:cNvSpPr>
            <a:spLocks noGrp="1"/>
          </p:cNvSpPr>
          <p:nvPr>
            <p:ph type="title"/>
          </p:nvPr>
        </p:nvSpPr>
        <p:spPr/>
        <p:txBody>
          <a:bodyPr/>
          <a:lstStyle/>
          <a:p>
            <a:r>
              <a:rPr lang="en-US" dirty="0"/>
              <a:t>Process – construction of tumor prognostic model</a:t>
            </a:r>
          </a:p>
        </p:txBody>
      </p:sp>
      <p:sp>
        <p:nvSpPr>
          <p:cNvPr id="3" name="Content Placeholder 2">
            <a:extLst>
              <a:ext uri="{FF2B5EF4-FFF2-40B4-BE49-F238E27FC236}">
                <a16:creationId xmlns:a16="http://schemas.microsoft.com/office/drawing/2014/main" id="{1896DC93-24B0-47C3-9D98-5493CA158E7F}"/>
              </a:ext>
            </a:extLst>
          </p:cNvPr>
          <p:cNvSpPr>
            <a:spLocks noGrp="1"/>
          </p:cNvSpPr>
          <p:nvPr>
            <p:ph idx="1"/>
          </p:nvPr>
        </p:nvSpPr>
        <p:spPr/>
        <p:txBody>
          <a:bodyPr/>
          <a:lstStyle/>
          <a:p>
            <a:r>
              <a:rPr lang="en-US" dirty="0"/>
              <a:t>Supervised learning method in machine learning was selected to the tumor prognosis prediction model</a:t>
            </a:r>
          </a:p>
          <a:p>
            <a:r>
              <a:rPr lang="en-US" dirty="0"/>
              <a:t>R Studio software was applied to establish Bayesian survival prediction model and to complete the structure adjustment of Bayesian Networks</a:t>
            </a:r>
          </a:p>
          <a:p>
            <a:r>
              <a:rPr lang="en-US" dirty="0"/>
              <a:t>This was used to construct an effective prognostic model</a:t>
            </a:r>
          </a:p>
          <a:p>
            <a:r>
              <a:rPr lang="en-US" dirty="0"/>
              <a:t>R Studio is a free open source integrated development environment for R that is used for statistical computing and graphics</a:t>
            </a:r>
          </a:p>
          <a:p>
            <a:endParaRPr lang="en-US" dirty="0"/>
          </a:p>
        </p:txBody>
      </p:sp>
    </p:spTree>
    <p:extLst>
      <p:ext uri="{BB962C8B-B14F-4D97-AF65-F5344CB8AC3E}">
        <p14:creationId xmlns:p14="http://schemas.microsoft.com/office/powerpoint/2010/main" val="3982063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801AAF-CB46-46B1-B3E2-68F89551BBBF}"/>
              </a:ext>
            </a:extLst>
          </p:cNvPr>
          <p:cNvSpPr>
            <a:spLocks noGrp="1"/>
          </p:cNvSpPr>
          <p:nvPr>
            <p:ph type="title"/>
          </p:nvPr>
        </p:nvSpPr>
        <p:spPr/>
        <p:txBody>
          <a:bodyPr/>
          <a:lstStyle/>
          <a:p>
            <a:r>
              <a:rPr lang="en-US" dirty="0"/>
              <a:t>Process – evaluation of model </a:t>
            </a:r>
            <a:r>
              <a:rPr lang="en-US" dirty="0" err="1"/>
              <a:t>effectivelness</a:t>
            </a:r>
            <a:endParaRPr lang="en-US" dirty="0"/>
          </a:p>
        </p:txBody>
      </p:sp>
      <p:sp>
        <p:nvSpPr>
          <p:cNvPr id="3" name="Content Placeholder 2">
            <a:extLst>
              <a:ext uri="{FF2B5EF4-FFF2-40B4-BE49-F238E27FC236}">
                <a16:creationId xmlns:a16="http://schemas.microsoft.com/office/drawing/2014/main" id="{9B12D94F-AEF0-4091-962C-136AEC61F509}"/>
              </a:ext>
            </a:extLst>
          </p:cNvPr>
          <p:cNvSpPr>
            <a:spLocks noGrp="1"/>
          </p:cNvSpPr>
          <p:nvPr>
            <p:ph idx="1"/>
          </p:nvPr>
        </p:nvSpPr>
        <p:spPr/>
        <p:txBody>
          <a:bodyPr/>
          <a:lstStyle/>
          <a:p>
            <a:r>
              <a:rPr lang="en-US" dirty="0"/>
              <a:t>The data mining software WEKA was selected to compare the predicting accuracy</a:t>
            </a:r>
          </a:p>
          <a:p>
            <a:endParaRPr lang="en-US" dirty="0"/>
          </a:p>
          <a:p>
            <a:r>
              <a:rPr lang="en-US" dirty="0"/>
              <a:t>The accuracy and area under the curve of ROC among the models of BN was compared for other common classified</a:t>
            </a:r>
          </a:p>
        </p:txBody>
      </p:sp>
    </p:spTree>
    <p:extLst>
      <p:ext uri="{BB962C8B-B14F-4D97-AF65-F5344CB8AC3E}">
        <p14:creationId xmlns:p14="http://schemas.microsoft.com/office/powerpoint/2010/main" val="5595368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DDC07B-75A7-42D4-9893-28D5FF6CCBFC}"/>
              </a:ext>
            </a:extLst>
          </p:cNvPr>
          <p:cNvSpPr>
            <a:spLocks noGrp="1"/>
          </p:cNvSpPr>
          <p:nvPr>
            <p:ph type="title"/>
          </p:nvPr>
        </p:nvSpPr>
        <p:spPr/>
        <p:txBody>
          <a:bodyPr/>
          <a:lstStyle/>
          <a:p>
            <a:r>
              <a:rPr lang="en-US" dirty="0"/>
              <a:t>Processing – construction of tumor...</a:t>
            </a:r>
          </a:p>
        </p:txBody>
      </p:sp>
      <p:sp>
        <p:nvSpPr>
          <p:cNvPr id="3" name="Content Placeholder 2">
            <a:extLst>
              <a:ext uri="{FF2B5EF4-FFF2-40B4-BE49-F238E27FC236}">
                <a16:creationId xmlns:a16="http://schemas.microsoft.com/office/drawing/2014/main" id="{BFD7729F-AB81-4498-B206-F066CDD36962}"/>
              </a:ext>
            </a:extLst>
          </p:cNvPr>
          <p:cNvSpPr>
            <a:spLocks noGrp="1"/>
          </p:cNvSpPr>
          <p:nvPr>
            <p:ph idx="1"/>
          </p:nvPr>
        </p:nvSpPr>
        <p:spPr>
          <a:xfrm>
            <a:off x="1069848" y="1863969"/>
            <a:ext cx="10058400" cy="4509399"/>
          </a:xfrm>
        </p:spPr>
        <p:txBody>
          <a:bodyPr/>
          <a:lstStyle/>
          <a:p>
            <a:r>
              <a:rPr lang="en-US" dirty="0"/>
              <a:t>There are three stages to the processing of these data for the prognostic model</a:t>
            </a:r>
          </a:p>
          <a:p>
            <a:pPr lvl="1"/>
            <a:r>
              <a:rPr lang="en-US" dirty="0"/>
              <a:t>Construction of tumor prognostic model</a:t>
            </a:r>
          </a:p>
          <a:p>
            <a:pPr lvl="2"/>
            <a:r>
              <a:rPr lang="en-US" dirty="0"/>
              <a:t>Research object: </a:t>
            </a:r>
          </a:p>
          <a:p>
            <a:pPr lvl="3"/>
            <a:r>
              <a:rPr lang="en-US" dirty="0"/>
              <a:t>Asian patients diagnosed with NSCLC since 2014 were selected as the final study subjects</a:t>
            </a:r>
          </a:p>
          <a:p>
            <a:pPr lvl="3"/>
            <a:r>
              <a:rPr lang="en-US" dirty="0"/>
              <a:t>Patients deaths within 5 years and patients who have been followed up and still survived within the 5 years was 683</a:t>
            </a:r>
          </a:p>
          <a:p>
            <a:pPr lvl="2"/>
            <a:r>
              <a:rPr lang="en-US" dirty="0"/>
              <a:t>Research Variables: </a:t>
            </a:r>
          </a:p>
          <a:p>
            <a:pPr lvl="3"/>
            <a:r>
              <a:rPr lang="en-US" dirty="0"/>
              <a:t>17 prognostic variables were extracted from SEER as seen in the next slide. </a:t>
            </a:r>
          </a:p>
          <a:p>
            <a:pPr lvl="3"/>
            <a:r>
              <a:rPr lang="en-US" dirty="0"/>
              <a:t>The last 4  are continuous variables and the others are categorical variables</a:t>
            </a:r>
          </a:p>
          <a:p>
            <a:pPr lvl="2"/>
            <a:r>
              <a:rPr lang="en-US" dirty="0"/>
              <a:t>Outcome Variable: </a:t>
            </a:r>
          </a:p>
          <a:p>
            <a:pPr lvl="3"/>
            <a:r>
              <a:rPr lang="en-US" dirty="0"/>
              <a:t>The five-year survival of NSCLC patients is an important index to evaluate the prognostic effect, and was treated as the dependent variable. </a:t>
            </a:r>
          </a:p>
          <a:p>
            <a:pPr lvl="3"/>
            <a:r>
              <a:rPr lang="en-US" dirty="0"/>
              <a:t>A month is made as a survival period unit and the conversion of classification variables. Patients who lived for 60 months or more were considered living otherwise considered dead</a:t>
            </a:r>
          </a:p>
        </p:txBody>
      </p:sp>
    </p:spTree>
    <p:extLst>
      <p:ext uri="{BB962C8B-B14F-4D97-AF65-F5344CB8AC3E}">
        <p14:creationId xmlns:p14="http://schemas.microsoft.com/office/powerpoint/2010/main" val="10459540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3" descr="tab.1.jpg">
            <a:extLst>
              <a:ext uri="{FF2B5EF4-FFF2-40B4-BE49-F238E27FC236}">
                <a16:creationId xmlns:a16="http://schemas.microsoft.com/office/drawing/2014/main" id="{DBEC5DF0-EF60-4F22-8E30-1E75CF34E6CB}"/>
              </a:ext>
            </a:extLst>
          </p:cNvPr>
          <p:cNvPicPr>
            <a:picLocks noGrp="1" noChangeAspect="1"/>
          </p:cNvPicPr>
          <p:nvPr>
            <p:ph idx="1"/>
          </p:nvPr>
        </p:nvPicPr>
        <p:blipFill>
          <a:blip r:embed="rId2"/>
          <a:stretch>
            <a:fillRect/>
          </a:stretch>
        </p:blipFill>
        <p:spPr>
          <a:xfrm>
            <a:off x="1547023" y="401215"/>
            <a:ext cx="7615637" cy="6265851"/>
          </a:xfrm>
        </p:spPr>
      </p:pic>
    </p:spTree>
    <p:extLst>
      <p:ext uri="{BB962C8B-B14F-4D97-AF65-F5344CB8AC3E}">
        <p14:creationId xmlns:p14="http://schemas.microsoft.com/office/powerpoint/2010/main" val="41280994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D3BFA0-05E2-4B8E-9295-397946CE951B}"/>
              </a:ext>
            </a:extLst>
          </p:cNvPr>
          <p:cNvSpPr>
            <a:spLocks noGrp="1"/>
          </p:cNvSpPr>
          <p:nvPr>
            <p:ph type="title"/>
          </p:nvPr>
        </p:nvSpPr>
        <p:spPr/>
        <p:txBody>
          <a:bodyPr/>
          <a:lstStyle/>
          <a:p>
            <a:r>
              <a:rPr lang="en-US" dirty="0"/>
              <a:t>Processing – construction of tumor...</a:t>
            </a:r>
          </a:p>
        </p:txBody>
      </p:sp>
      <p:sp>
        <p:nvSpPr>
          <p:cNvPr id="3" name="Content Placeholder 2">
            <a:extLst>
              <a:ext uri="{FF2B5EF4-FFF2-40B4-BE49-F238E27FC236}">
                <a16:creationId xmlns:a16="http://schemas.microsoft.com/office/drawing/2014/main" id="{2C1D5AD9-BAEE-436C-A752-04F116F308F6}"/>
              </a:ext>
            </a:extLst>
          </p:cNvPr>
          <p:cNvSpPr>
            <a:spLocks noGrp="1"/>
          </p:cNvSpPr>
          <p:nvPr>
            <p:ph idx="1"/>
          </p:nvPr>
        </p:nvSpPr>
        <p:spPr>
          <a:xfrm>
            <a:off x="1069848" y="1855176"/>
            <a:ext cx="10058400" cy="4932485"/>
          </a:xfrm>
        </p:spPr>
        <p:txBody>
          <a:bodyPr/>
          <a:lstStyle/>
          <a:p>
            <a:r>
              <a:rPr lang="en-US" dirty="0"/>
              <a:t>Feature variable selection:</a:t>
            </a:r>
          </a:p>
          <a:p>
            <a:pPr lvl="1"/>
            <a:r>
              <a:rPr lang="en-US" dirty="0"/>
              <a:t>To </a:t>
            </a:r>
            <a:r>
              <a:rPr lang="en-US" dirty="0" err="1"/>
              <a:t>strimeline</a:t>
            </a:r>
            <a:r>
              <a:rPr lang="en-US" dirty="0"/>
              <a:t> the prognostic variables and improve the prediction accuracy of the model, it is required to carry out a high correlation prognostic factors</a:t>
            </a:r>
          </a:p>
          <a:p>
            <a:pPr lvl="1"/>
            <a:r>
              <a:rPr lang="en-US" dirty="0"/>
              <a:t>After the one-way ANOVA analysis, the prognostic variables were (P&lt;0.05): </a:t>
            </a:r>
          </a:p>
          <a:p>
            <a:pPr lvl="2"/>
            <a:r>
              <a:rPr lang="en-US" dirty="0"/>
              <a:t>age at the time of diagnosis, </a:t>
            </a:r>
          </a:p>
          <a:p>
            <a:pPr lvl="2"/>
            <a:r>
              <a:rPr lang="en-US" dirty="0"/>
              <a:t>CS tumor size, </a:t>
            </a:r>
          </a:p>
          <a:p>
            <a:pPr lvl="2"/>
            <a:r>
              <a:rPr lang="en-US" dirty="0"/>
              <a:t>histological grade, </a:t>
            </a:r>
          </a:p>
          <a:p>
            <a:pPr lvl="2"/>
            <a:r>
              <a:rPr lang="en-US" dirty="0"/>
              <a:t>tumor staging, </a:t>
            </a:r>
          </a:p>
          <a:p>
            <a:pPr lvl="2"/>
            <a:r>
              <a:rPr lang="en-US" dirty="0"/>
              <a:t>CS extension , </a:t>
            </a:r>
          </a:p>
          <a:p>
            <a:pPr lvl="2"/>
            <a:r>
              <a:rPr lang="en-US" dirty="0"/>
              <a:t>CS lymph nodes, </a:t>
            </a:r>
          </a:p>
          <a:p>
            <a:pPr lvl="2"/>
            <a:r>
              <a:rPr lang="en-US" dirty="0"/>
              <a:t>regional nodes positive, </a:t>
            </a:r>
          </a:p>
          <a:p>
            <a:pPr lvl="2"/>
            <a:r>
              <a:rPr lang="en-US" dirty="0"/>
              <a:t>marital status, </a:t>
            </a:r>
          </a:p>
          <a:p>
            <a:pPr lvl="2"/>
            <a:r>
              <a:rPr lang="en-US" dirty="0"/>
              <a:t>race recode, </a:t>
            </a:r>
          </a:p>
          <a:p>
            <a:pPr lvl="2"/>
            <a:r>
              <a:rPr lang="en-US" dirty="0"/>
              <a:t>CS </a:t>
            </a:r>
            <a:r>
              <a:rPr lang="en-US" dirty="0" err="1"/>
              <a:t>mets</a:t>
            </a:r>
            <a:r>
              <a:rPr lang="en-US" dirty="0"/>
              <a:t> at dx, </a:t>
            </a:r>
          </a:p>
          <a:p>
            <a:pPr lvl="2"/>
            <a:r>
              <a:rPr lang="en-US" dirty="0"/>
              <a:t>operation type, </a:t>
            </a:r>
          </a:p>
          <a:p>
            <a:pPr lvl="2"/>
            <a:r>
              <a:rPr lang="en-US" dirty="0"/>
              <a:t>and whether radiotherapy.</a:t>
            </a:r>
          </a:p>
        </p:txBody>
      </p:sp>
    </p:spTree>
    <p:extLst>
      <p:ext uri="{BB962C8B-B14F-4D97-AF65-F5344CB8AC3E}">
        <p14:creationId xmlns:p14="http://schemas.microsoft.com/office/powerpoint/2010/main" val="23595166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AE14C-2F42-4E7E-BC99-C70824372CD8}"/>
              </a:ext>
            </a:extLst>
          </p:cNvPr>
          <p:cNvSpPr>
            <a:spLocks noGrp="1"/>
          </p:cNvSpPr>
          <p:nvPr>
            <p:ph type="title"/>
          </p:nvPr>
        </p:nvSpPr>
        <p:spPr/>
        <p:txBody>
          <a:bodyPr/>
          <a:lstStyle/>
          <a:p>
            <a:endParaRPr lang="en-US"/>
          </a:p>
        </p:txBody>
      </p:sp>
      <p:pic>
        <p:nvPicPr>
          <p:cNvPr id="4" name="内容占位符 3" descr="Tab.2.jpg">
            <a:extLst>
              <a:ext uri="{FF2B5EF4-FFF2-40B4-BE49-F238E27FC236}">
                <a16:creationId xmlns:a16="http://schemas.microsoft.com/office/drawing/2014/main" id="{2995E6CC-9A4D-434D-BC54-2E74E3F07FD6}"/>
              </a:ext>
            </a:extLst>
          </p:cNvPr>
          <p:cNvPicPr>
            <a:picLocks noGrp="1" noChangeAspect="1"/>
          </p:cNvPicPr>
          <p:nvPr>
            <p:ph idx="1"/>
          </p:nvPr>
        </p:nvPicPr>
        <p:blipFill>
          <a:blip r:embed="rId2"/>
          <a:stretch>
            <a:fillRect/>
          </a:stretch>
        </p:blipFill>
        <p:spPr>
          <a:xfrm>
            <a:off x="366630" y="1177374"/>
            <a:ext cx="11458739" cy="4503252"/>
          </a:xfrm>
        </p:spPr>
      </p:pic>
    </p:spTree>
    <p:extLst>
      <p:ext uri="{BB962C8B-B14F-4D97-AF65-F5344CB8AC3E}">
        <p14:creationId xmlns:p14="http://schemas.microsoft.com/office/powerpoint/2010/main" val="22952478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304E0B-E140-4A53-A297-442286081D2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2C23244-B816-413A-B56F-1B7BAEB23AA4}"/>
              </a:ext>
            </a:extLst>
          </p:cNvPr>
          <p:cNvSpPr>
            <a:spLocks noGrp="1"/>
          </p:cNvSpPr>
          <p:nvPr>
            <p:ph idx="1"/>
          </p:nvPr>
        </p:nvSpPr>
        <p:spPr/>
        <p:txBody>
          <a:bodyPr/>
          <a:lstStyle/>
          <a:p>
            <a:r>
              <a:rPr lang="en-US" dirty="0"/>
              <a:t>Data preprocessing: </a:t>
            </a:r>
          </a:p>
          <a:p>
            <a:pPr lvl="1"/>
            <a:r>
              <a:rPr lang="en-US" dirty="0"/>
              <a:t>Interval method was selected for metric data to discretize the serious deleted data, false record, and patient's information of deaths from non-lung cancer. </a:t>
            </a:r>
          </a:p>
          <a:p>
            <a:pPr lvl="1"/>
            <a:endParaRPr lang="en-US" dirty="0"/>
          </a:p>
          <a:p>
            <a:pPr lvl="1"/>
            <a:r>
              <a:rPr lang="en-US" dirty="0"/>
              <a:t>The discretization method aimed to divide the interval [X</a:t>
            </a:r>
            <a:r>
              <a:rPr lang="en-US" baseline="-25000" dirty="0"/>
              <a:t>0</a:t>
            </a:r>
            <a:r>
              <a:rPr lang="en-US" dirty="0"/>
              <a:t>, X</a:t>
            </a:r>
            <a:r>
              <a:rPr lang="en-US" baseline="-25000" dirty="0"/>
              <a:t>N- 1</a:t>
            </a:r>
            <a:r>
              <a:rPr lang="en-US" dirty="0"/>
              <a:t>] into the same subinterval of size D and the suggestion of discretization was given according to the sub-interval index, </a:t>
            </a:r>
          </a:p>
          <a:p>
            <a:pPr lvl="1"/>
            <a:endParaRPr lang="en-US" dirty="0"/>
          </a:p>
          <a:p>
            <a:pPr lvl="1"/>
            <a:r>
              <a:rPr lang="en-US" dirty="0"/>
              <a:t>The observation index</a:t>
            </a:r>
            <a:r>
              <a:rPr lang="en-US" i="1" dirty="0"/>
              <a:t> </a:t>
            </a:r>
            <a:r>
              <a:rPr lang="en-US" i="1" dirty="0" err="1"/>
              <a:t>i</a:t>
            </a:r>
            <a:r>
              <a:rPr lang="en-US" dirty="0"/>
              <a:t> and the discrete level </a:t>
            </a:r>
            <a:r>
              <a:rPr lang="en-US" i="1" dirty="0"/>
              <a:t>j</a:t>
            </a:r>
            <a:r>
              <a:rPr lang="en-US" dirty="0"/>
              <a:t> satisfy the following conditions </a:t>
            </a:r>
          </a:p>
          <a:p>
            <a:pPr lvl="1"/>
            <a:endParaRPr lang="en-US" dirty="0"/>
          </a:p>
        </p:txBody>
      </p:sp>
    </p:spTree>
    <p:extLst>
      <p:ext uri="{BB962C8B-B14F-4D97-AF65-F5344CB8AC3E}">
        <p14:creationId xmlns:p14="http://schemas.microsoft.com/office/powerpoint/2010/main" val="12681443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0D2629-6EE0-449E-B6DF-EA0434288785}"/>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CB571952-714C-4CCD-BF69-0739E28FB658}"/>
              </a:ext>
            </a:extLst>
          </p:cNvPr>
          <p:cNvSpPr>
            <a:spLocks noGrp="1"/>
          </p:cNvSpPr>
          <p:nvPr>
            <p:ph idx="1"/>
          </p:nvPr>
        </p:nvSpPr>
        <p:spPr>
          <a:xfrm>
            <a:off x="1069848" y="2121408"/>
            <a:ext cx="10058400" cy="4438012"/>
          </a:xfrm>
        </p:spPr>
        <p:txBody>
          <a:bodyPr/>
          <a:lstStyle/>
          <a:p>
            <a:r>
              <a:rPr lang="en-US" dirty="0"/>
              <a:t>The above data preprocessing step is realized by calling BN </a:t>
            </a:r>
            <a:r>
              <a:rPr lang="en-US" dirty="0" err="1"/>
              <a:t>learn's</a:t>
            </a:r>
            <a:r>
              <a:rPr lang="en-US" dirty="0"/>
              <a:t> function package in software R Studio. </a:t>
            </a:r>
          </a:p>
          <a:p>
            <a:endParaRPr lang="en-US" dirty="0"/>
          </a:p>
          <a:p>
            <a:r>
              <a:rPr lang="en-US" dirty="0"/>
              <a:t>Then the data is divided into training set (N1=495) and test set (N2=188) according to the proportion of about 70% and 30%. </a:t>
            </a:r>
          </a:p>
          <a:p>
            <a:endParaRPr lang="en-US" dirty="0"/>
          </a:p>
          <a:p>
            <a:r>
              <a:rPr lang="en-US" dirty="0"/>
              <a:t>The training set is used for network learning and adjustment, thus constructing the prognostic model and measuring. </a:t>
            </a:r>
          </a:p>
          <a:p>
            <a:endParaRPr lang="en-US" dirty="0"/>
          </a:p>
          <a:p>
            <a:r>
              <a:rPr lang="en-US" dirty="0"/>
              <a:t>The test set is used to evaluate the performance of the model.</a:t>
            </a:r>
            <a:endParaRPr lang="en-US" i="1" dirty="0"/>
          </a:p>
          <a:p>
            <a:endParaRPr lang="en-US" dirty="0"/>
          </a:p>
        </p:txBody>
      </p:sp>
      <p:pic>
        <p:nvPicPr>
          <p:cNvPr id="4" name="图片 1">
            <a:extLst>
              <a:ext uri="{FF2B5EF4-FFF2-40B4-BE49-F238E27FC236}">
                <a16:creationId xmlns:a16="http://schemas.microsoft.com/office/drawing/2014/main" id="{45119257-F07F-428F-A329-343591CA3761}"/>
              </a:ext>
            </a:extLst>
          </p:cNvPr>
          <p:cNvPicPr>
            <a:picLocks noChangeAspect="1" noChangeArrowheads="1"/>
          </p:cNvPicPr>
          <p:nvPr/>
        </p:nvPicPr>
        <p:blipFill>
          <a:blip r:embed="rId2"/>
          <a:srcRect t="9836"/>
          <a:stretch>
            <a:fillRect/>
          </a:stretch>
        </p:blipFill>
        <p:spPr bwMode="auto">
          <a:xfrm>
            <a:off x="1802090" y="811763"/>
            <a:ext cx="8135011" cy="1084668"/>
          </a:xfrm>
          <a:prstGeom prst="rect">
            <a:avLst/>
          </a:prstGeom>
          <a:noFill/>
          <a:ln w="9525">
            <a:noFill/>
            <a:miter lim="800000"/>
            <a:headEnd/>
            <a:tailEnd/>
          </a:ln>
        </p:spPr>
      </p:pic>
    </p:spTree>
    <p:extLst>
      <p:ext uri="{BB962C8B-B14F-4D97-AF65-F5344CB8AC3E}">
        <p14:creationId xmlns:p14="http://schemas.microsoft.com/office/powerpoint/2010/main" val="31106174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4532F-A795-47B0-8041-841E6CED8737}"/>
              </a:ext>
            </a:extLst>
          </p:cNvPr>
          <p:cNvSpPr>
            <a:spLocks noGrp="1"/>
          </p:cNvSpPr>
          <p:nvPr>
            <p:ph type="title"/>
          </p:nvPr>
        </p:nvSpPr>
        <p:spPr/>
        <p:txBody>
          <a:bodyPr/>
          <a:lstStyle/>
          <a:p>
            <a:r>
              <a:rPr lang="en-US" dirty="0" err="1"/>
              <a:t>Const</a:t>
            </a:r>
            <a:r>
              <a:rPr lang="en-US" dirty="0"/>
              <a:t> &amp; prediction of the prognostic model</a:t>
            </a:r>
          </a:p>
        </p:txBody>
      </p:sp>
      <p:pic>
        <p:nvPicPr>
          <p:cNvPr id="4" name="Content Placeholder 3">
            <a:extLst>
              <a:ext uri="{FF2B5EF4-FFF2-40B4-BE49-F238E27FC236}">
                <a16:creationId xmlns:a16="http://schemas.microsoft.com/office/drawing/2014/main" id="{FDEB6CF6-DCF1-4276-981E-18A35E98097F}"/>
              </a:ext>
            </a:extLst>
          </p:cNvPr>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75977" y="2477894"/>
            <a:ext cx="8887696" cy="3895474"/>
          </a:xfrm>
          <a:prstGeom prst="rect">
            <a:avLst/>
          </a:prstGeom>
          <a:noFill/>
          <a:ln>
            <a:noFill/>
          </a:ln>
        </p:spPr>
      </p:pic>
    </p:spTree>
    <p:extLst>
      <p:ext uri="{BB962C8B-B14F-4D97-AF65-F5344CB8AC3E}">
        <p14:creationId xmlns:p14="http://schemas.microsoft.com/office/powerpoint/2010/main" val="34115500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433E74-BFFD-4E72-A9A1-F44C16934198}"/>
              </a:ext>
            </a:extLst>
          </p:cNvPr>
          <p:cNvSpPr>
            <a:spLocks noGrp="1"/>
          </p:cNvSpPr>
          <p:nvPr>
            <p:ph type="title"/>
          </p:nvPr>
        </p:nvSpPr>
        <p:spPr/>
        <p:txBody>
          <a:bodyPr/>
          <a:lstStyle/>
          <a:p>
            <a:r>
              <a:rPr lang="en-US" dirty="0"/>
              <a:t>Processing – comparison experiment</a:t>
            </a:r>
          </a:p>
        </p:txBody>
      </p:sp>
      <p:sp>
        <p:nvSpPr>
          <p:cNvPr id="3" name="Content Placeholder 2">
            <a:extLst>
              <a:ext uri="{FF2B5EF4-FFF2-40B4-BE49-F238E27FC236}">
                <a16:creationId xmlns:a16="http://schemas.microsoft.com/office/drawing/2014/main" id="{9DDF9937-8577-477D-B263-48A347A4D6B2}"/>
              </a:ext>
            </a:extLst>
          </p:cNvPr>
          <p:cNvSpPr>
            <a:spLocks noGrp="1"/>
          </p:cNvSpPr>
          <p:nvPr>
            <p:ph idx="1"/>
          </p:nvPr>
        </p:nvSpPr>
        <p:spPr/>
        <p:txBody>
          <a:bodyPr/>
          <a:lstStyle/>
          <a:p>
            <a:pPr algn="just">
              <a:lnSpc>
                <a:spcPct val="150000"/>
              </a:lnSpc>
            </a:pPr>
            <a:r>
              <a:rPr lang="x-none" dirty="0"/>
              <a:t>The decision tree, support vector machine and artificial neural network method are used to establish the prognostic model, and compared the prediction results with prognostic model, which is set up at this study. </a:t>
            </a:r>
            <a:endParaRPr lang="en-US" dirty="0"/>
          </a:p>
          <a:p>
            <a:pPr algn="just">
              <a:lnSpc>
                <a:spcPct val="150000"/>
              </a:lnSpc>
            </a:pPr>
            <a:r>
              <a:rPr lang="x-none" dirty="0"/>
              <a:t>In WEKA, the corresponding method of J48, SMO and Multilayer Perceptron are selected to establish the prognostic model and the parameter acquiescence. </a:t>
            </a:r>
            <a:endParaRPr lang="en-US" dirty="0"/>
          </a:p>
          <a:p>
            <a:pPr algn="just">
              <a:lnSpc>
                <a:spcPct val="150000"/>
              </a:lnSpc>
            </a:pPr>
            <a:r>
              <a:rPr lang="x-none" dirty="0"/>
              <a:t>The prediction accuracy and model performance evaluation of 4 machine learning algorithms are shown in table 3 and table 4.</a:t>
            </a:r>
            <a:endParaRPr lang="en-US" dirty="0"/>
          </a:p>
          <a:p>
            <a:endParaRPr lang="en-US" dirty="0"/>
          </a:p>
          <a:p>
            <a:endParaRPr lang="en-US" dirty="0"/>
          </a:p>
        </p:txBody>
      </p:sp>
    </p:spTree>
    <p:extLst>
      <p:ext uri="{BB962C8B-B14F-4D97-AF65-F5344CB8AC3E}">
        <p14:creationId xmlns:p14="http://schemas.microsoft.com/office/powerpoint/2010/main" val="10275261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5BD001-00DB-4DCC-98EF-5C3E0D1A3572}"/>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7158ACCB-36CF-4985-8D2B-8E9D6FEB912F}"/>
              </a:ext>
            </a:extLst>
          </p:cNvPr>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65110" y="1576873"/>
            <a:ext cx="10672560" cy="4571849"/>
          </a:xfrm>
          <a:prstGeom prst="rect">
            <a:avLst/>
          </a:prstGeom>
          <a:noFill/>
          <a:ln>
            <a:noFill/>
          </a:ln>
        </p:spPr>
      </p:pic>
    </p:spTree>
    <p:extLst>
      <p:ext uri="{BB962C8B-B14F-4D97-AF65-F5344CB8AC3E}">
        <p14:creationId xmlns:p14="http://schemas.microsoft.com/office/powerpoint/2010/main" val="2508165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325E68-2A3B-49D3-B031-BC1F4332A34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E2CBECB-CE35-4020-BCF0-EACD59F8EF9A}"/>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52D75587-16F7-4F4A-A544-E9E0F333844A}"/>
              </a:ext>
            </a:extLst>
          </p:cNvPr>
          <p:cNvPicPr/>
          <p:nvPr/>
        </p:nvPicPr>
        <p:blipFill>
          <a:blip r:embed="rId2">
            <a:extLst>
              <a:ext uri="{28A0092B-C50C-407E-A947-70E740481C1C}">
                <a14:useLocalDpi xmlns:a14="http://schemas.microsoft.com/office/drawing/2010/main" val="0"/>
              </a:ext>
            </a:extLst>
          </a:blip>
          <a:srcRect r="2396"/>
          <a:stretch>
            <a:fillRect/>
          </a:stretch>
        </p:blipFill>
        <p:spPr bwMode="auto">
          <a:xfrm>
            <a:off x="1166328" y="1744825"/>
            <a:ext cx="9632982" cy="4237556"/>
          </a:xfrm>
          <a:prstGeom prst="rect">
            <a:avLst/>
          </a:prstGeom>
          <a:noFill/>
          <a:ln>
            <a:noFill/>
          </a:ln>
        </p:spPr>
      </p:pic>
    </p:spTree>
    <p:extLst>
      <p:ext uri="{BB962C8B-B14F-4D97-AF65-F5344CB8AC3E}">
        <p14:creationId xmlns:p14="http://schemas.microsoft.com/office/powerpoint/2010/main" val="9907444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A6BC17-70DD-4229-952C-6AA7B4ADA1A9}"/>
              </a:ext>
            </a:extLst>
          </p:cNvPr>
          <p:cNvSpPr>
            <a:spLocks noGrp="1"/>
          </p:cNvSpPr>
          <p:nvPr>
            <p:ph type="title"/>
          </p:nvPr>
        </p:nvSpPr>
        <p:spPr>
          <a:xfrm>
            <a:off x="1066800" y="158262"/>
            <a:ext cx="10058400" cy="968559"/>
          </a:xfrm>
        </p:spPr>
        <p:txBody>
          <a:bodyPr/>
          <a:lstStyle/>
          <a:p>
            <a:r>
              <a:rPr lang="en-US" dirty="0"/>
              <a:t>Processing – experimental analysis</a:t>
            </a:r>
          </a:p>
        </p:txBody>
      </p:sp>
      <p:sp>
        <p:nvSpPr>
          <p:cNvPr id="3" name="Content Placeholder 2">
            <a:extLst>
              <a:ext uri="{FF2B5EF4-FFF2-40B4-BE49-F238E27FC236}">
                <a16:creationId xmlns:a16="http://schemas.microsoft.com/office/drawing/2014/main" id="{D0138832-8D7F-41F3-A110-E59653CA85A7}"/>
              </a:ext>
            </a:extLst>
          </p:cNvPr>
          <p:cNvSpPr>
            <a:spLocks noGrp="1"/>
          </p:cNvSpPr>
          <p:nvPr>
            <p:ph idx="1"/>
          </p:nvPr>
        </p:nvSpPr>
        <p:spPr>
          <a:xfrm>
            <a:off x="264368" y="1211155"/>
            <a:ext cx="11663264" cy="5488583"/>
          </a:xfrm>
        </p:spPr>
        <p:txBody>
          <a:bodyPr>
            <a:normAutofit lnSpcReduction="10000"/>
          </a:bodyPr>
          <a:lstStyle/>
          <a:p>
            <a:r>
              <a:rPr lang="en-US" dirty="0"/>
              <a:t>The study found that the NSCLC prognosis model constructed by Bayesian network was optimal</a:t>
            </a:r>
          </a:p>
          <a:p>
            <a:pPr algn="just">
              <a:lnSpc>
                <a:spcPct val="170000"/>
              </a:lnSpc>
            </a:pPr>
            <a:r>
              <a:rPr lang="en-US" dirty="0"/>
              <a:t>Table 3 showed that although the decision tree, support vector machine (SVM), and artificial neural network in the predictive accuracy of the training set was higher than that of Bayesian network, </a:t>
            </a:r>
          </a:p>
          <a:p>
            <a:pPr algn="just">
              <a:lnSpc>
                <a:spcPct val="170000"/>
              </a:lnSpc>
            </a:pPr>
            <a:r>
              <a:rPr lang="en-US" dirty="0"/>
              <a:t>The testing set three prediction accuracy, were significantly reduced in the value compared to the training set, failed to adapt to the new data very well. </a:t>
            </a:r>
          </a:p>
          <a:p>
            <a:pPr algn="just">
              <a:lnSpc>
                <a:spcPct val="170000"/>
              </a:lnSpc>
            </a:pPr>
            <a:r>
              <a:rPr lang="en-US" dirty="0"/>
              <a:t>It is indicated that they were not suitable for practical application, the model of Bayesian networks is better than the other three models in fitting degree. </a:t>
            </a:r>
          </a:p>
          <a:p>
            <a:pPr algn="just">
              <a:lnSpc>
                <a:spcPct val="170000"/>
              </a:lnSpc>
            </a:pPr>
            <a:r>
              <a:rPr lang="en-US" dirty="0"/>
              <a:t>Table 4 showed that the data in predicting accuracy and area under the ROC curve of the BN model is significantly higher than that of the other three machine learning algorithms</a:t>
            </a:r>
          </a:p>
          <a:p>
            <a:endParaRPr lang="en-US" dirty="0"/>
          </a:p>
        </p:txBody>
      </p:sp>
    </p:spTree>
    <p:extLst>
      <p:ext uri="{BB962C8B-B14F-4D97-AF65-F5344CB8AC3E}">
        <p14:creationId xmlns:p14="http://schemas.microsoft.com/office/powerpoint/2010/main" val="13467852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FDC83-962E-4305-AEB0-335AD6F41384}"/>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B733D3F8-B26C-4B21-982F-D600358A56D3}"/>
              </a:ext>
            </a:extLst>
          </p:cNvPr>
          <p:cNvSpPr>
            <a:spLocks noGrp="1"/>
          </p:cNvSpPr>
          <p:nvPr>
            <p:ph idx="1"/>
          </p:nvPr>
        </p:nvSpPr>
        <p:spPr>
          <a:xfrm>
            <a:off x="1069848" y="1723292"/>
            <a:ext cx="10058400" cy="4800600"/>
          </a:xfrm>
        </p:spPr>
        <p:txBody>
          <a:bodyPr>
            <a:normAutofit/>
          </a:bodyPr>
          <a:lstStyle/>
          <a:p>
            <a:pPr algn="just">
              <a:lnSpc>
                <a:spcPct val="160000"/>
              </a:lnSpc>
            </a:pPr>
            <a:r>
              <a:rPr lang="en-US" dirty="0"/>
              <a:t>In this study, the survival prognosis model of patients with non-small cell lung cancer patients were established, and the prediction accuracy was 72.87%. </a:t>
            </a:r>
          </a:p>
          <a:p>
            <a:pPr algn="just">
              <a:lnSpc>
                <a:spcPct val="160000"/>
              </a:lnSpc>
            </a:pPr>
            <a:r>
              <a:rPr lang="en-US" dirty="0"/>
              <a:t>By constructing a Bayesian network to explore the relationship between the prognostic variables and the impact on the survival situation, and on the basis of the internal network structure adjustment combined with clinical expert advice, the relationship between nodes in the model were better explained. </a:t>
            </a:r>
          </a:p>
          <a:p>
            <a:pPr algn="just">
              <a:lnSpc>
                <a:spcPct val="160000"/>
              </a:lnSpc>
            </a:pPr>
            <a:r>
              <a:rPr lang="en-US" dirty="0"/>
              <a:t>Applying the SEER database in Asia cancer as the main research object to build its prediction model, and playing a supplementary role on the judgment of the prognosis of patients with postoperative five years.</a:t>
            </a:r>
          </a:p>
          <a:p>
            <a:pPr algn="just">
              <a:lnSpc>
                <a:spcPct val="160000"/>
              </a:lnSpc>
            </a:pPr>
            <a:endParaRPr lang="en-US" dirty="0"/>
          </a:p>
          <a:p>
            <a:endParaRPr lang="en-US" dirty="0"/>
          </a:p>
        </p:txBody>
      </p:sp>
    </p:spTree>
    <p:extLst>
      <p:ext uri="{BB962C8B-B14F-4D97-AF65-F5344CB8AC3E}">
        <p14:creationId xmlns:p14="http://schemas.microsoft.com/office/powerpoint/2010/main" val="8387220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768906-2DCE-4295-B4F7-E7AC22568F5D}"/>
              </a:ext>
            </a:extLst>
          </p:cNvPr>
          <p:cNvSpPr>
            <a:spLocks noGrp="1"/>
          </p:cNvSpPr>
          <p:nvPr>
            <p:ph type="title"/>
          </p:nvPr>
        </p:nvSpPr>
        <p:spPr>
          <a:xfrm>
            <a:off x="1069847" y="484632"/>
            <a:ext cx="10395321" cy="2944368"/>
          </a:xfrm>
        </p:spPr>
        <p:txBody>
          <a:bodyPr>
            <a:normAutofit/>
          </a:bodyPr>
          <a:lstStyle/>
          <a:p>
            <a:pPr algn="ctr"/>
            <a:r>
              <a:rPr lang="en-US" sz="8800" dirty="0"/>
              <a:t>Thank you</a:t>
            </a:r>
          </a:p>
        </p:txBody>
      </p:sp>
      <p:sp>
        <p:nvSpPr>
          <p:cNvPr id="3" name="Content Placeholder 2">
            <a:extLst>
              <a:ext uri="{FF2B5EF4-FFF2-40B4-BE49-F238E27FC236}">
                <a16:creationId xmlns:a16="http://schemas.microsoft.com/office/drawing/2014/main" id="{741E57F1-C673-4F03-AA12-6C118D6D13E5}"/>
              </a:ext>
            </a:extLst>
          </p:cNvPr>
          <p:cNvSpPr>
            <a:spLocks noGrp="1"/>
          </p:cNvSpPr>
          <p:nvPr>
            <p:ph idx="1"/>
          </p:nvPr>
        </p:nvSpPr>
        <p:spPr/>
        <p:txBody>
          <a:bodyPr/>
          <a:lstStyle/>
          <a:p>
            <a:endParaRPr lang="en-US" dirty="0"/>
          </a:p>
          <a:p>
            <a:endParaRPr lang="en-US" dirty="0"/>
          </a:p>
          <a:p>
            <a:endParaRPr lang="en-US" dirty="0"/>
          </a:p>
          <a:p>
            <a:endParaRPr lang="en-US" dirty="0"/>
          </a:p>
          <a:p>
            <a:pPr algn="ctr"/>
            <a:r>
              <a:rPr lang="en-US" dirty="0"/>
              <a:t>Questions?</a:t>
            </a:r>
          </a:p>
        </p:txBody>
      </p:sp>
    </p:spTree>
    <p:extLst>
      <p:ext uri="{BB962C8B-B14F-4D97-AF65-F5344CB8AC3E}">
        <p14:creationId xmlns:p14="http://schemas.microsoft.com/office/powerpoint/2010/main" val="9872427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TM03090434[[fn=Wood Type]]</Template>
  <TotalTime>656</TotalTime>
  <Words>1770</Words>
  <Application>Microsoft Office PowerPoint</Application>
  <PresentationFormat>Widescreen</PresentationFormat>
  <Paragraphs>143</Paragraphs>
  <Slides>26</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Arial</vt:lpstr>
      <vt:lpstr>Calibri</vt:lpstr>
      <vt:lpstr>Rockwell</vt:lpstr>
      <vt:lpstr>Rockwell Condensed</vt:lpstr>
      <vt:lpstr>Wingdings</vt:lpstr>
      <vt:lpstr>Wood Type</vt:lpstr>
      <vt:lpstr>Study on Application of Bayesian Networks and SEER Database in the Predicting of Non-Small Cell Lung Cancer</vt:lpstr>
      <vt:lpstr>Overview</vt:lpstr>
      <vt:lpstr>Introduction</vt:lpstr>
      <vt:lpstr>Introduction (cont’d)</vt:lpstr>
      <vt:lpstr>Bayesian networks theory</vt:lpstr>
      <vt:lpstr>Bayesian network (BN) Applications</vt:lpstr>
      <vt:lpstr>The study?</vt:lpstr>
      <vt:lpstr>CONSTRUCTION PLAN OF TUMOR PROGNOSTIC MODEL</vt:lpstr>
      <vt:lpstr>Process – data download</vt:lpstr>
      <vt:lpstr>Process – basis for variable selection</vt:lpstr>
      <vt:lpstr>Process – screening of variable</vt:lpstr>
      <vt:lpstr>Process – construction of tumor prognostic model</vt:lpstr>
      <vt:lpstr>Process – evaluation of model effectivelness</vt:lpstr>
      <vt:lpstr>Processing – construction of tumor...</vt:lpstr>
      <vt:lpstr>PowerPoint Presentation</vt:lpstr>
      <vt:lpstr>Processing – construction of tumor...</vt:lpstr>
      <vt:lpstr>PowerPoint Presentation</vt:lpstr>
      <vt:lpstr>PowerPoint Presentation</vt:lpstr>
      <vt:lpstr>PowerPoint Presentation</vt:lpstr>
      <vt:lpstr>Const &amp; prediction of the prognostic model</vt:lpstr>
      <vt:lpstr>Processing – comparison experiment</vt:lpstr>
      <vt:lpstr>PowerPoint Presentation</vt:lpstr>
      <vt:lpstr>PowerPoint Presentation</vt:lpstr>
      <vt:lpstr>Processing – experimental analysis</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Study on Application of Bayesian Networks and SEER Database in the Predicting of Non-Small Cell Lung Cancer</dc:title>
  <dc:creator>Chinedu Nwachukwu</dc:creator>
  <cp:lastModifiedBy>Chinedu Nwachukwu</cp:lastModifiedBy>
  <cp:revision>15</cp:revision>
  <dcterms:created xsi:type="dcterms:W3CDTF">2017-12-12T04:52:18Z</dcterms:created>
  <dcterms:modified xsi:type="dcterms:W3CDTF">2017-12-12T15:48:53Z</dcterms:modified>
</cp:coreProperties>
</file>